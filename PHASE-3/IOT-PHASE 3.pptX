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6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3" r:id="rId22"/>
    <p:sldId id="274"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00FF00"/>
    <a:srgbClr val="008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793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832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0886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18-Oct-23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589484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9845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1768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2451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18-Oct-23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670310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7722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99567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4491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03344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4960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888269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9455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26970389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506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smtClean="0"/>
              <a:pPr/>
              <a:t>18-Oct-23</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2077459"/>
      </p:ext>
    </p:extLst>
  </p:cSld>
  <p:clrMap bg1="dk1" tx1="lt1" bg2="dk2" tx2="lt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 id="2147483974" r:id="rId11"/>
    <p:sldLayoutId id="2147483975" r:id="rId12"/>
    <p:sldLayoutId id="2147483976" r:id="rId13"/>
    <p:sldLayoutId id="2147483977" r:id="rId14"/>
    <p:sldLayoutId id="2147483978" r:id="rId15"/>
    <p:sldLayoutId id="2147483979" r:id="rId16"/>
    <p:sldLayoutId id="2147483980"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88883" y="0"/>
            <a:ext cx="7424064" cy="1870640"/>
          </a:xfrm>
          <a:prstGeom prst="rect">
            <a:avLst/>
          </a:prstGeom>
        </p:spPr>
        <p:txBody>
          <a:bodyPr wrap="square">
            <a:spAutoFit/>
          </a:bodyPr>
          <a:lstStyle/>
          <a:p>
            <a:pPr>
              <a:lnSpc>
                <a:spcPct val="107000"/>
              </a:lnSpc>
              <a:spcAft>
                <a:spcPts val="800"/>
              </a:spcAft>
            </a:pPr>
            <a:r>
              <a:rPr lang="en-US" sz="5400" b="1" dirty="0" smtClean="0">
                <a:solidFill>
                  <a:srgbClr val="FFFF00"/>
                </a:solidFill>
                <a:latin typeface="Algerian" panose="04020705040A02060702" pitchFamily="82" charset="0"/>
                <a:ea typeface="Calibri" panose="020F0502020204030204" pitchFamily="34" charset="0"/>
                <a:cs typeface="Latha" panose="020B0604020202020204" pitchFamily="34" charset="0"/>
              </a:rPr>
              <a:t>    </a:t>
            </a:r>
            <a:r>
              <a:rPr lang="en-US" sz="5400" b="1" i="1" u="sng" dirty="0" smtClean="0">
                <a:solidFill>
                  <a:srgbClr val="FFFF00"/>
                </a:solidFill>
                <a:latin typeface="Algerian" panose="04020705040A02060702" pitchFamily="82" charset="0"/>
                <a:ea typeface="Calibri" panose="020F0502020204030204" pitchFamily="34" charset="0"/>
                <a:cs typeface="Latha" panose="020B0604020202020204" pitchFamily="34" charset="0"/>
              </a:rPr>
              <a:t>NOISE</a:t>
            </a:r>
            <a:r>
              <a:rPr lang="en-US" sz="5400" b="1" dirty="0" smtClean="0">
                <a:solidFill>
                  <a:srgbClr val="FFFF00"/>
                </a:solidFill>
                <a:latin typeface="Algerian" panose="04020705040A02060702" pitchFamily="82" charset="0"/>
                <a:ea typeface="Calibri" panose="020F0502020204030204" pitchFamily="34" charset="0"/>
                <a:cs typeface="Latha" panose="020B0604020202020204" pitchFamily="34" charset="0"/>
              </a:rPr>
              <a:t> </a:t>
            </a:r>
            <a:r>
              <a:rPr lang="en-US" sz="5400" b="1" i="1" u="sng" dirty="0" smtClean="0">
                <a:solidFill>
                  <a:srgbClr val="FFFF00"/>
                </a:solidFill>
                <a:latin typeface="Algerian" panose="04020705040A02060702" pitchFamily="82" charset="0"/>
                <a:ea typeface="Calibri" panose="020F0502020204030204" pitchFamily="34" charset="0"/>
                <a:cs typeface="Latha" panose="020B0604020202020204" pitchFamily="34" charset="0"/>
              </a:rPr>
              <a:t>POLLUTION</a:t>
            </a:r>
            <a:r>
              <a:rPr lang="en-US" sz="5400" b="1" dirty="0" smtClean="0">
                <a:solidFill>
                  <a:srgbClr val="FFFF00"/>
                </a:solidFill>
                <a:latin typeface="Algerian" panose="04020705040A02060702" pitchFamily="82" charset="0"/>
                <a:ea typeface="Calibri" panose="020F0502020204030204" pitchFamily="34" charset="0"/>
                <a:cs typeface="Latha" panose="020B0604020202020204" pitchFamily="34" charset="0"/>
              </a:rPr>
              <a:t> </a:t>
            </a:r>
            <a:r>
              <a:rPr lang="en-US" sz="5400" b="1" i="1" u="sng" dirty="0" smtClean="0">
                <a:solidFill>
                  <a:srgbClr val="FFFF00"/>
                </a:solidFill>
                <a:latin typeface="Algerian" panose="04020705040A02060702" pitchFamily="82" charset="0"/>
                <a:ea typeface="Calibri" panose="020F0502020204030204" pitchFamily="34" charset="0"/>
                <a:cs typeface="Latha" panose="020B0604020202020204" pitchFamily="34" charset="0"/>
              </a:rPr>
              <a:t>MONITORING</a:t>
            </a:r>
            <a:r>
              <a:rPr lang="en-US" sz="5400" b="1" dirty="0" smtClean="0">
                <a:solidFill>
                  <a:srgbClr val="FFFF00"/>
                </a:solidFill>
                <a:latin typeface="Algerian" panose="04020705040A02060702" pitchFamily="82" charset="0"/>
                <a:ea typeface="Calibri" panose="020F0502020204030204" pitchFamily="34" charset="0"/>
                <a:cs typeface="Latha" panose="020B0604020202020204" pitchFamily="34" charset="0"/>
              </a:rPr>
              <a:t> </a:t>
            </a:r>
            <a:r>
              <a:rPr lang="en-US" sz="5400" b="1" i="1" u="sng" dirty="0" smtClean="0">
                <a:solidFill>
                  <a:srgbClr val="FFFF00"/>
                </a:solidFill>
                <a:latin typeface="Algerian" panose="04020705040A02060702" pitchFamily="82" charset="0"/>
                <a:ea typeface="Calibri" panose="020F0502020204030204" pitchFamily="34" charset="0"/>
                <a:cs typeface="Latha" panose="020B0604020202020204" pitchFamily="34" charset="0"/>
              </a:rPr>
              <a:t>SYSTEM</a:t>
            </a:r>
            <a:endParaRPr lang="en-US" sz="5400" b="1" i="1" u="sng" dirty="0">
              <a:solidFill>
                <a:srgbClr val="FFFF00"/>
              </a:solidFill>
              <a:effectLst/>
              <a:latin typeface="Algerian" panose="04020705040A02060702" pitchFamily="82" charset="0"/>
              <a:ea typeface="Calibri" panose="020F0502020204030204" pitchFamily="34" charset="0"/>
              <a:cs typeface="Latha" panose="020B0604020202020204" pitchFamily="34" charset="0"/>
            </a:endParaRPr>
          </a:p>
        </p:txBody>
      </p:sp>
      <p:sp>
        <p:nvSpPr>
          <p:cNvPr id="6" name="Rectangle 5"/>
          <p:cNvSpPr/>
          <p:nvPr/>
        </p:nvSpPr>
        <p:spPr>
          <a:xfrm>
            <a:off x="247224" y="2397526"/>
            <a:ext cx="4100803" cy="706540"/>
          </a:xfrm>
          <a:prstGeom prst="rect">
            <a:avLst/>
          </a:prstGeom>
        </p:spPr>
        <p:txBody>
          <a:bodyPr wrap="none">
            <a:spAutoFit/>
          </a:bodyPr>
          <a:lstStyle/>
          <a:p>
            <a:pPr>
              <a:lnSpc>
                <a:spcPct val="107000"/>
              </a:lnSpc>
              <a:spcAft>
                <a:spcPts val="800"/>
              </a:spcAft>
            </a:pP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SUBMITTED BY</a:t>
            </a:r>
            <a:endParaRPr lang="en-US" sz="4000" b="1" u="sng" dirty="0">
              <a:solidFill>
                <a:srgbClr val="FF0066"/>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6"/>
          <p:cNvSpPr/>
          <p:nvPr/>
        </p:nvSpPr>
        <p:spPr>
          <a:xfrm>
            <a:off x="4129826" y="3104066"/>
            <a:ext cx="6096000" cy="3034677"/>
          </a:xfrm>
          <a:prstGeom prst="rect">
            <a:avLst/>
          </a:prstGeom>
        </p:spPr>
        <p:txBody>
          <a:bodyPr>
            <a:spAutoFit/>
          </a:bodyPr>
          <a:lstStyle/>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VIDHYASAGAR.K</a:t>
            </a:r>
          </a:p>
          <a:p>
            <a:pPr>
              <a:lnSpc>
                <a:spcPct val="107000"/>
              </a:lnSpc>
              <a:spcAft>
                <a:spcPts val="800"/>
              </a:spcAft>
            </a:pP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 </a:t>
            </a:r>
            <a:r>
              <a:rPr lang="en-US" sz="4000" b="1" u="sng" dirty="0" smtClean="0">
                <a:solidFill>
                  <a:srgbClr val="FF0066"/>
                </a:solidFill>
                <a:latin typeface="Times New Roman" panose="02020603050405020304" pitchFamily="18" charset="0"/>
                <a:ea typeface="Calibri" panose="020F0502020204030204" pitchFamily="34" charset="0"/>
                <a:cs typeface="Times New Roman" panose="02020603050405020304" pitchFamily="18" charset="0"/>
              </a:rPr>
              <a:t>SASIKANNAN.S</a:t>
            </a:r>
            <a:endPar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 </a:t>
            </a:r>
            <a:r>
              <a:rPr lang="en-US" sz="4000" b="1" u="sng" dirty="0" smtClean="0">
                <a:solidFill>
                  <a:srgbClr val="FF0066"/>
                </a:solidFill>
                <a:latin typeface="Times New Roman" panose="02020603050405020304" pitchFamily="18" charset="0"/>
                <a:ea typeface="Calibri" panose="020F0502020204030204" pitchFamily="34" charset="0"/>
                <a:cs typeface="Times New Roman" panose="02020603050405020304" pitchFamily="18" charset="0"/>
              </a:rPr>
              <a:t>NAVEEN </a:t>
            </a:r>
            <a:r>
              <a:rPr lang="en-US" sz="4000" b="1" u="sng" dirty="0">
                <a:solidFill>
                  <a:srgbClr val="FF0066"/>
                </a:solidFill>
                <a:latin typeface="Times New Roman" panose="02020603050405020304" pitchFamily="18" charset="0"/>
                <a:ea typeface="Calibri" panose="020F0502020204030204" pitchFamily="34" charset="0"/>
                <a:cs typeface="Times New Roman" panose="02020603050405020304" pitchFamily="18" charset="0"/>
              </a:rPr>
              <a:t>KUMAR.S</a:t>
            </a:r>
          </a:p>
          <a:p>
            <a:pPr>
              <a:lnSpc>
                <a:spcPct val="107000"/>
              </a:lnSpc>
              <a:spcAft>
                <a:spcPts val="800"/>
              </a:spcAft>
            </a:pPr>
            <a:r>
              <a:rPr lang="en-US" sz="4000" b="1" u="sng" dirty="0" smtClean="0">
                <a:solidFill>
                  <a:srgbClr val="FF0066"/>
                </a:solidFill>
                <a:latin typeface="Times New Roman" panose="02020603050405020304" pitchFamily="18" charset="0"/>
                <a:ea typeface="Calibri" panose="020F0502020204030204" pitchFamily="34" charset="0"/>
                <a:cs typeface="Times New Roman" panose="02020603050405020304" pitchFamily="18" charset="0"/>
              </a:rPr>
              <a:t> ARUN.C</a:t>
            </a:r>
            <a:endParaRPr lang="en-US" sz="4000" b="1" u="sng" dirty="0">
              <a:solidFill>
                <a:srgbClr val="FF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6279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8421" y="1260988"/>
            <a:ext cx="338554" cy="830997"/>
          </a:xfrm>
          <a:prstGeom prst="rect">
            <a:avLst/>
          </a:prstGeom>
        </p:spPr>
        <p:txBody>
          <a:bodyPr wrap="none">
            <a:spAutoFit/>
          </a:bodyPr>
          <a:lstStyle/>
          <a:p>
            <a:r>
              <a:rPr lang="en-US" sz="4800" dirty="0">
                <a:latin typeface="Times New Roman" panose="02020603050405020304" pitchFamily="18" charset="0"/>
                <a:cs typeface="Times New Roman" panose="02020603050405020304" pitchFamily="18" charset="0"/>
              </a:rPr>
              <a:t> </a:t>
            </a:r>
          </a:p>
        </p:txBody>
      </p:sp>
      <p:sp>
        <p:nvSpPr>
          <p:cNvPr id="3" name="Rectangle 2"/>
          <p:cNvSpPr/>
          <p:nvPr/>
        </p:nvSpPr>
        <p:spPr>
          <a:xfrm>
            <a:off x="445542" y="745831"/>
            <a:ext cx="7351693" cy="6801862"/>
          </a:xfrm>
          <a:prstGeom prst="rect">
            <a:avLst/>
          </a:prstGeom>
        </p:spPr>
        <p:txBody>
          <a:bodyPr wrap="none">
            <a:spAutoFit/>
          </a:bodyPr>
          <a:lstStyle/>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INTRODUCTION</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RELATED WORK</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METHODOLOGY</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BLOCK DIAGRAM</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SYSTEM DESIGN</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SYSTEM SPECIFICATION</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PROGRAM</a:t>
            </a:r>
          </a:p>
          <a:p>
            <a:pPr marL="685800" indent="-685800">
              <a:buFont typeface="Wingdings" panose="05000000000000000000" pitchFamily="2" charset="2"/>
              <a:buChar char="Ø"/>
            </a:pPr>
            <a:r>
              <a:rPr lang="en-US" sz="4400" dirty="0" smtClean="0">
                <a:latin typeface="Times New Roman" panose="02020603050405020304" pitchFamily="18" charset="0"/>
                <a:cs typeface="Times New Roman" panose="02020603050405020304" pitchFamily="18" charset="0"/>
              </a:rPr>
              <a:t>RESULT</a:t>
            </a:r>
          </a:p>
          <a:p>
            <a:pPr marL="685800" indent="-685800">
              <a:buFont typeface="Wingdings" panose="05000000000000000000" pitchFamily="2" charset="2"/>
              <a:buChar char="Ø"/>
            </a:pPr>
            <a:r>
              <a:rPr lang="en-US" sz="4400" dirty="0">
                <a:latin typeface="Times New Roman" panose="02020603050405020304" pitchFamily="18" charset="0"/>
                <a:cs typeface="Times New Roman" panose="02020603050405020304" pitchFamily="18" charset="0"/>
              </a:rPr>
              <a:t>CONCLUSION</a:t>
            </a:r>
            <a:endParaRPr lang="en-US" sz="4400" dirty="0" smtClean="0">
              <a:latin typeface="Times New Roman" panose="02020603050405020304" pitchFamily="18" charset="0"/>
              <a:cs typeface="Times New Roman" panose="02020603050405020304" pitchFamily="18" charset="0"/>
            </a:endParaRPr>
          </a:p>
          <a:p>
            <a:pPr marL="685800" indent="-685800">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p:txBody>
      </p:sp>
      <p:sp>
        <p:nvSpPr>
          <p:cNvPr id="4" name="Rectangle 3"/>
          <p:cNvSpPr/>
          <p:nvPr/>
        </p:nvSpPr>
        <p:spPr>
          <a:xfrm>
            <a:off x="0" y="-268"/>
            <a:ext cx="4421403" cy="981487"/>
          </a:xfrm>
          <a:prstGeom prst="rect">
            <a:avLst/>
          </a:prstGeom>
        </p:spPr>
        <p:txBody>
          <a:bodyPr wrap="none">
            <a:spAutoFit/>
          </a:bodyPr>
          <a:lstStyle/>
          <a:p>
            <a:pPr>
              <a:lnSpc>
                <a:spcPct val="107000"/>
              </a:lnSpc>
              <a:spcAft>
                <a:spcPts val="600"/>
              </a:spcAft>
            </a:pPr>
            <a:r>
              <a:rPr lang="en-US" sz="5400" b="1" dirty="0">
                <a:solidFill>
                  <a:schemeClr val="bg1"/>
                </a:solidFill>
                <a:latin typeface="Algerian" panose="04020705040A02060702" pitchFamily="82" charset="0"/>
                <a:ea typeface="Calibri" panose="020F0502020204030204" pitchFamily="34" charset="0"/>
                <a:cs typeface="Times New Roman" panose="02020603050405020304" pitchFamily="18" charset="0"/>
              </a:rPr>
              <a:t>COMPONENTS</a:t>
            </a:r>
          </a:p>
        </p:txBody>
      </p:sp>
    </p:spTree>
    <p:extLst>
      <p:ext uri="{BB962C8B-B14F-4D97-AF65-F5344CB8AC3E}">
        <p14:creationId xmlns:p14="http://schemas.microsoft.com/office/powerpoint/2010/main" val="2296732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51516"/>
            <a:ext cx="4793300"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INTRODUCTION</a:t>
            </a:r>
          </a:p>
        </p:txBody>
      </p:sp>
      <p:sp>
        <p:nvSpPr>
          <p:cNvPr id="3" name="Rectangle 2"/>
          <p:cNvSpPr/>
          <p:nvPr/>
        </p:nvSpPr>
        <p:spPr>
          <a:xfrm>
            <a:off x="150250" y="685957"/>
            <a:ext cx="11758411" cy="5847755"/>
          </a:xfrm>
          <a:prstGeom prst="rect">
            <a:avLst/>
          </a:prstGeom>
        </p:spPr>
        <p:txBody>
          <a:bodyPr wrap="square">
            <a:spAutoFit/>
          </a:bodyPr>
          <a:lstStyle/>
          <a:p>
            <a:pPr marL="342900" indent="-3429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 </a:t>
            </a:r>
            <a:r>
              <a:rPr lang="en-US" sz="3400" dirty="0" smtClean="0">
                <a:latin typeface="Times New Roman" panose="02020603050405020304" pitchFamily="18" charset="0"/>
                <a:cs typeface="Times New Roman" panose="02020603050405020304" pitchFamily="18" charset="0"/>
              </a:rPr>
              <a:t>Noise </a:t>
            </a:r>
            <a:r>
              <a:rPr lang="en-US" sz="3400" dirty="0">
                <a:latin typeface="Times New Roman" panose="02020603050405020304" pitchFamily="18" charset="0"/>
                <a:cs typeface="Times New Roman" panose="02020603050405020304" pitchFamily="18" charset="0"/>
              </a:rPr>
              <a:t>pollution could be a growing issue of late. it's necessary to watch the air and noise pollution levels to make sure a healthy and safe </a:t>
            </a:r>
            <a:r>
              <a:rPr lang="en-US" sz="3400" dirty="0" smtClean="0">
                <a:latin typeface="Times New Roman" panose="02020603050405020304" pitchFamily="18" charset="0"/>
                <a:cs typeface="Times New Roman" panose="02020603050405020304" pitchFamily="18" charset="0"/>
              </a:rPr>
              <a:t>atmosphere.</a:t>
            </a:r>
          </a:p>
          <a:p>
            <a:pPr marL="342900" indent="-3429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With </a:t>
            </a:r>
            <a:r>
              <a:rPr lang="en-US" sz="3400" dirty="0">
                <a:latin typeface="Times New Roman" panose="02020603050405020304" pitchFamily="18" charset="0"/>
                <a:cs typeface="Times New Roman" panose="02020603050405020304" pitchFamily="18" charset="0"/>
              </a:rPr>
              <a:t>the fast increase in infrastructure and industrial plants, environmental problems have greatly influenced the requirement of sensible observation </a:t>
            </a:r>
            <a:r>
              <a:rPr lang="en-US" sz="3400" dirty="0" smtClean="0">
                <a:latin typeface="Times New Roman" panose="02020603050405020304" pitchFamily="18" charset="0"/>
                <a:cs typeface="Times New Roman" panose="02020603050405020304" pitchFamily="18" charset="0"/>
              </a:rPr>
              <a:t>systems.</a:t>
            </a:r>
          </a:p>
          <a:p>
            <a:pPr marL="342900" indent="-3429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a:t>
            </a:r>
            <a:r>
              <a:rPr lang="en-US" sz="3400" dirty="0" smtClean="0">
                <a:latin typeface="Times New Roman" panose="02020603050405020304" pitchFamily="18" charset="0"/>
                <a:cs typeface="Times New Roman" panose="02020603050405020304" pitchFamily="18" charset="0"/>
              </a:rPr>
              <a:t>hanks </a:t>
            </a:r>
            <a:r>
              <a:rPr lang="en-US" sz="3400" dirty="0">
                <a:latin typeface="Times New Roman" panose="02020603050405020304" pitchFamily="18" charset="0"/>
                <a:cs typeface="Times New Roman" panose="02020603050405020304" pitchFamily="18" charset="0"/>
              </a:rPr>
              <a:t>to its low price, high potency and flexibility, web of Things (</a:t>
            </a:r>
            <a:r>
              <a:rPr lang="en-US" sz="3400" dirty="0" smtClean="0">
                <a:latin typeface="Times New Roman" panose="02020603050405020304" pitchFamily="18" charset="0"/>
                <a:cs typeface="Times New Roman" panose="02020603050405020304" pitchFamily="18" charset="0"/>
              </a:rPr>
              <a:t>IOT</a:t>
            </a:r>
            <a:r>
              <a:rPr lang="en-US" sz="3400" dirty="0">
                <a:latin typeface="Times New Roman" panose="02020603050405020304" pitchFamily="18" charset="0"/>
                <a:cs typeface="Times New Roman" panose="02020603050405020304" pitchFamily="18" charset="0"/>
              </a:rPr>
              <a:t>) has become extremely popular currently of </a:t>
            </a:r>
            <a:r>
              <a:rPr lang="en-US" sz="3400" dirty="0" smtClean="0">
                <a:latin typeface="Times New Roman" panose="02020603050405020304" pitchFamily="18" charset="0"/>
                <a:cs typeface="Times New Roman" panose="02020603050405020304" pitchFamily="18" charset="0"/>
              </a:rPr>
              <a:t>late.</a:t>
            </a:r>
          </a:p>
          <a:p>
            <a:pPr marL="342900" indent="-3429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web </a:t>
            </a:r>
            <a:r>
              <a:rPr lang="en-US" sz="3400" dirty="0">
                <a:latin typeface="Times New Roman" panose="02020603050405020304" pitchFamily="18" charset="0"/>
                <a:cs typeface="Times New Roman" panose="02020603050405020304" pitchFamily="18" charset="0"/>
              </a:rPr>
              <a:t>of Things (</a:t>
            </a:r>
            <a:r>
              <a:rPr lang="en-US" sz="3400" dirty="0" smtClean="0">
                <a:latin typeface="Times New Roman" panose="02020603050405020304" pitchFamily="18" charset="0"/>
                <a:cs typeface="Times New Roman" panose="02020603050405020304" pitchFamily="18" charset="0"/>
              </a:rPr>
              <a:t>IOT</a:t>
            </a:r>
            <a:r>
              <a:rPr lang="en-US" sz="3400" dirty="0">
                <a:latin typeface="Times New Roman" panose="02020603050405020304" pitchFamily="18" charset="0"/>
                <a:cs typeface="Times New Roman" panose="02020603050405020304" pitchFamily="18" charset="0"/>
              </a:rPr>
              <a:t>) permits interaction between devices and humans. It forms a communication medium from human to </a:t>
            </a:r>
            <a:r>
              <a:rPr lang="en-US" sz="3400" dirty="0" smtClean="0">
                <a:latin typeface="Times New Roman" panose="02020603050405020304" pitchFamily="18" charset="0"/>
                <a:cs typeface="Times New Roman" panose="02020603050405020304" pitchFamily="18" charset="0"/>
              </a:rPr>
              <a:t>machine</a:t>
            </a:r>
            <a:r>
              <a:rPr lang="en-US" sz="3400" dirty="0" smtClean="0"/>
              <a:t>.3</a:t>
            </a:r>
            <a:endParaRPr lang="en-US" sz="3400" dirty="0"/>
          </a:p>
        </p:txBody>
      </p:sp>
    </p:spTree>
    <p:extLst>
      <p:ext uri="{BB962C8B-B14F-4D97-AF65-F5344CB8AC3E}">
        <p14:creationId xmlns:p14="http://schemas.microsoft.com/office/powerpoint/2010/main" val="14843800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97" y="-8305"/>
            <a:ext cx="11569520" cy="689419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Previously, knowledge collectors had to travel long distances to the assorted locations to gather knowledge when that the analysis was </a:t>
            </a:r>
            <a:r>
              <a:rPr lang="en-US" sz="3400" dirty="0" smtClean="0">
                <a:latin typeface="Times New Roman" panose="02020603050405020304" pitchFamily="18" charset="0"/>
                <a:cs typeface="Times New Roman" panose="02020603050405020304" pitchFamily="18" charset="0"/>
              </a:rPr>
              <a:t>done. This </a:t>
            </a:r>
            <a:r>
              <a:rPr lang="en-US" sz="3400" dirty="0">
                <a:latin typeface="Times New Roman" panose="02020603050405020304" pitchFamily="18" charset="0"/>
                <a:cs typeface="Times New Roman" panose="02020603050405020304" pitchFamily="18" charset="0"/>
              </a:rPr>
              <a:t>was drawn-out and time </a:t>
            </a:r>
            <a:r>
              <a:rPr lang="en-US" sz="3400" dirty="0" smtClean="0">
                <a:latin typeface="Times New Roman" panose="02020603050405020304" pitchFamily="18" charset="0"/>
                <a:cs typeface="Times New Roman" panose="02020603050405020304" pitchFamily="18" charset="0"/>
              </a:rPr>
              <a:t>intense.</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But </a:t>
            </a:r>
            <a:r>
              <a:rPr lang="en-US" sz="3400" dirty="0">
                <a:latin typeface="Times New Roman" panose="02020603050405020304" pitchFamily="18" charset="0"/>
                <a:cs typeface="Times New Roman" panose="02020603050405020304" pitchFamily="18" charset="0"/>
              </a:rPr>
              <a:t>now, sensors and microcontrollers connected to the web will create environmental parameter observation additional versatile, correct and fewer time </a:t>
            </a:r>
            <a:r>
              <a:rPr lang="en-US" sz="3400" dirty="0" smtClean="0">
                <a:latin typeface="Times New Roman" panose="02020603050405020304" pitchFamily="18" charset="0"/>
                <a:cs typeface="Times New Roman" panose="02020603050405020304" pitchFamily="18" charset="0"/>
              </a:rPr>
              <a:t>intense.</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once </a:t>
            </a:r>
            <a:r>
              <a:rPr lang="en-US" sz="3400" dirty="0">
                <a:latin typeface="Times New Roman" panose="02020603050405020304" pitchFamily="18" charset="0"/>
                <a:cs typeface="Times New Roman" panose="02020603050405020304" pitchFamily="18" charset="0"/>
              </a:rPr>
              <a:t>the atmosphere Merges with sensors and devices to self -protect and self -monitor it forms a sensible atmosphere. Embedded intelligence makes the atmosphere act with the objects. during this model, we tend to square measure employing a Raspberry Pi 3B microcontroller, which can have gas sensors and noise sensors connected to that, to watch the unsteady environmental parameters.</a:t>
            </a:r>
            <a:r>
              <a:rPr 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04099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69" y="0"/>
            <a:ext cx="5275803"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RELATED WORK</a:t>
            </a:r>
          </a:p>
        </p:txBody>
      </p:sp>
      <p:sp>
        <p:nvSpPr>
          <p:cNvPr id="3" name="Rectangle 2"/>
          <p:cNvSpPr/>
          <p:nvPr/>
        </p:nvSpPr>
        <p:spPr>
          <a:xfrm>
            <a:off x="407830" y="726409"/>
            <a:ext cx="11784169" cy="584775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There are numerous works that have been done related to IOT based air and sound pollution monitoring Projects</a:t>
            </a:r>
            <a:r>
              <a:rPr lang="en-US" sz="3200" dirty="0">
                <a:latin typeface="Times New Roman" panose="02020603050405020304" pitchFamily="18" charset="0"/>
                <a:cs typeface="Times New Roman" panose="02020603050405020304" pitchFamily="18" charset="0"/>
              </a:rPr>
              <a:t>.</a:t>
            </a:r>
            <a:r>
              <a:rPr lang="en-US" dirty="0"/>
              <a:t> </a:t>
            </a:r>
            <a:endParaRPr lang="en-US" dirty="0" smtClean="0"/>
          </a:p>
          <a:p>
            <a:pPr marL="457200" indent="-457200">
              <a:buFont typeface="Wingdings" panose="05000000000000000000" pitchFamily="2" charset="2"/>
              <a:buChar char="v"/>
            </a:pPr>
            <a:r>
              <a:rPr lang="en-US" sz="3400" dirty="0" err="1" smtClean="0">
                <a:latin typeface="Times New Roman" panose="02020603050405020304" pitchFamily="18" charset="0"/>
                <a:cs typeface="Times New Roman" panose="02020603050405020304" pitchFamily="18" charset="0"/>
              </a:rPr>
              <a:t>Varun</a:t>
            </a:r>
            <a:r>
              <a:rPr lang="en-US" sz="3400" dirty="0" smtClean="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Jain,Mansi</a:t>
            </a:r>
            <a:r>
              <a:rPr lang="en-US" sz="3400" dirty="0" smtClean="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Goel</a:t>
            </a:r>
            <a:r>
              <a:rPr lang="en-US" sz="3400" dirty="0" smtClean="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Mukulika</a:t>
            </a:r>
            <a:r>
              <a:rPr lang="en-US" sz="3400" dirty="0" smtClean="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Maity</a:t>
            </a:r>
            <a:r>
              <a:rPr lang="en-US" sz="3400" dirty="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Vinayak</a:t>
            </a:r>
            <a:r>
              <a:rPr lang="en-US" sz="3400" dirty="0" smtClean="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Naik</a:t>
            </a:r>
            <a:r>
              <a:rPr lang="en-US" sz="3400" dirty="0">
                <a:latin typeface="Times New Roman" panose="02020603050405020304" pitchFamily="18" charset="0"/>
                <a:cs typeface="Times New Roman" panose="02020603050405020304" pitchFamily="18" charset="0"/>
              </a:rPr>
              <a:t>,    Ramachandran </a:t>
            </a:r>
            <a:r>
              <a:rPr lang="en-US" sz="3400" dirty="0" err="1">
                <a:latin typeface="Times New Roman" panose="02020603050405020304" pitchFamily="18" charset="0"/>
                <a:cs typeface="Times New Roman" panose="02020603050405020304" pitchFamily="18" charset="0"/>
              </a:rPr>
              <a:t>Ramjee</a:t>
            </a:r>
            <a:r>
              <a:rPr lang="en-US" sz="3400" dirty="0">
                <a:latin typeface="Times New Roman" panose="02020603050405020304" pitchFamily="18" charset="0"/>
                <a:cs typeface="Times New Roman" panose="02020603050405020304" pitchFamily="18" charset="0"/>
              </a:rPr>
              <a:t>  propose a framework to estimate air pollution for a given locality by using maximum advantages of the existing infrastructure of monitoring </a:t>
            </a:r>
            <a:r>
              <a:rPr lang="en-US" sz="3400" dirty="0" smtClean="0">
                <a:latin typeface="Times New Roman" panose="02020603050405020304" pitchFamily="18" charset="0"/>
                <a:cs typeface="Times New Roman" panose="02020603050405020304" pitchFamily="18" charset="0"/>
              </a:rPr>
              <a:t>stations.</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Unfortunately</a:t>
            </a:r>
            <a:r>
              <a:rPr lang="en-US" sz="3400" dirty="0">
                <a:latin typeface="Times New Roman" panose="02020603050405020304" pitchFamily="18" charset="0"/>
                <a:cs typeface="Times New Roman" panose="02020603050405020304" pitchFamily="18" charset="0"/>
              </a:rPr>
              <a:t>, India still lacks the infrastructure required to measure pollution at a granular scale</a:t>
            </a:r>
            <a:r>
              <a:rPr lang="en-US" dirty="0" smtClean="0"/>
              <a:t>.</a:t>
            </a:r>
          </a:p>
          <a:p>
            <a:pPr marL="457200" indent="-457200">
              <a:buFont typeface="Wingdings" panose="05000000000000000000" pitchFamily="2" charset="2"/>
              <a:buChar char="v"/>
            </a:pPr>
            <a:r>
              <a:rPr lang="en-US" sz="3400" dirty="0" err="1" smtClean="0">
                <a:latin typeface="Times New Roman" panose="02020603050405020304" pitchFamily="18" charset="0"/>
                <a:cs typeface="Times New Roman" panose="02020603050405020304" pitchFamily="18" charset="0"/>
              </a:rPr>
              <a:t>Archit</a:t>
            </a:r>
            <a:r>
              <a:rPr lang="en-US" sz="3400" dirty="0" smtClean="0">
                <a:latin typeface="Times New Roman" panose="02020603050405020304" pitchFamily="18" charset="0"/>
                <a:cs typeface="Times New Roman" panose="02020603050405020304" pitchFamily="18" charset="0"/>
              </a:rPr>
              <a:t> </a:t>
            </a:r>
            <a:r>
              <a:rPr lang="en-US" sz="3400" dirty="0" err="1" smtClean="0">
                <a:latin typeface="Times New Roman" panose="02020603050405020304" pitchFamily="18" charset="0"/>
                <a:cs typeface="Times New Roman" panose="02020603050405020304" pitchFamily="18" charset="0"/>
              </a:rPr>
              <a:t>Aggarwal,TanupriyaChoudhary</a:t>
            </a:r>
            <a:r>
              <a:rPr lang="en-US" sz="3400" dirty="0">
                <a:latin typeface="Times New Roman" panose="02020603050405020304" pitchFamily="18" charset="0"/>
                <a:cs typeface="Times New Roman" panose="02020603050405020304" pitchFamily="18" charset="0"/>
              </a:rPr>
              <a:t>, Praveen Kumar Proposes a fuzzy interface system for the calculation of AQI using two pollutants with each having six linguistic variables.</a:t>
            </a:r>
          </a:p>
        </p:txBody>
      </p:sp>
    </p:spTree>
    <p:extLst>
      <p:ext uri="{BB962C8B-B14F-4D97-AF65-F5344CB8AC3E}">
        <p14:creationId xmlns:p14="http://schemas.microsoft.com/office/powerpoint/2010/main" val="42923164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0"/>
            <a:ext cx="12192000" cy="689419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The traditional method used is linear interpolation where only one pollutant is considered to calculate AQI</a:t>
            </a:r>
            <a:r>
              <a:rPr lang="en-US" sz="3400" dirty="0" smtClean="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r>
              <a:rPr lang="en-US" sz="3400" dirty="0" err="1">
                <a:latin typeface="Times New Roman" panose="02020603050405020304" pitchFamily="18" charset="0"/>
                <a:cs typeface="Times New Roman" panose="02020603050405020304" pitchFamily="18" charset="0"/>
              </a:rPr>
              <a:t>Somansh</a:t>
            </a:r>
            <a:r>
              <a:rPr lang="en-US" sz="3400" dirty="0">
                <a:latin typeface="Times New Roman" panose="02020603050405020304" pitchFamily="18" charset="0"/>
                <a:cs typeface="Times New Roman" panose="02020603050405020304" pitchFamily="18" charset="0"/>
              </a:rPr>
              <a:t> Kumar, Ashish </a:t>
            </a:r>
            <a:r>
              <a:rPr lang="en-US" sz="3400" dirty="0" err="1">
                <a:latin typeface="Times New Roman" panose="02020603050405020304" pitchFamily="18" charset="0"/>
                <a:cs typeface="Times New Roman" panose="02020603050405020304" pitchFamily="18" charset="0"/>
              </a:rPr>
              <a:t>Jasuja</a:t>
            </a:r>
            <a:r>
              <a:rPr lang="en-US" sz="3400" dirty="0">
                <a:latin typeface="Times New Roman" panose="02020603050405020304" pitchFamily="18" charset="0"/>
                <a:cs typeface="Times New Roman" panose="02020603050405020304" pitchFamily="18" charset="0"/>
              </a:rPr>
              <a:t> present work, the air quality Data from New Delhi, Mumbai, Chennai and Bengaluru has been used. Initially, dimension reduction has been performed on the data. After that, the data has been </a:t>
            </a:r>
            <a:r>
              <a:rPr lang="en-US" sz="3400" dirty="0" err="1">
                <a:latin typeface="Times New Roman" panose="02020603050405020304" pitchFamily="18" charset="0"/>
                <a:cs typeface="Times New Roman" panose="02020603050405020304" pitchFamily="18" charset="0"/>
              </a:rPr>
              <a:t>deseasonalized</a:t>
            </a:r>
            <a:r>
              <a:rPr lang="en-US" sz="3400"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v"/>
            </a:pPr>
            <a:r>
              <a:rPr lang="en-US" sz="3400" dirty="0" err="1">
                <a:latin typeface="Times New Roman" panose="02020603050405020304" pitchFamily="18" charset="0"/>
                <a:cs typeface="Times New Roman" panose="02020603050405020304" pitchFamily="18" charset="0"/>
              </a:rPr>
              <a:t>Arnab</a:t>
            </a:r>
            <a:r>
              <a:rPr lang="en-US" sz="3400" dirty="0">
                <a:latin typeface="Times New Roman" panose="02020603050405020304" pitchFamily="18" charset="0"/>
                <a:cs typeface="Times New Roman" panose="02020603050405020304" pitchFamily="18" charset="0"/>
              </a:rPr>
              <a:t> Kumar Saha1, Sachet Sircar2, </a:t>
            </a:r>
            <a:r>
              <a:rPr lang="en-US" sz="3400" dirty="0" err="1">
                <a:latin typeface="Times New Roman" panose="02020603050405020304" pitchFamily="18" charset="0"/>
                <a:cs typeface="Times New Roman" panose="02020603050405020304" pitchFamily="18" charset="0"/>
              </a:rPr>
              <a:t>Priyasha</a:t>
            </a:r>
            <a:r>
              <a:rPr lang="en-US" sz="3400" dirty="0">
                <a:latin typeface="Times New Roman" panose="02020603050405020304" pitchFamily="18" charset="0"/>
                <a:cs typeface="Times New Roman" panose="02020603050405020304" pitchFamily="18" charset="0"/>
              </a:rPr>
              <a:t> Chatterjee3 Proposed that in today's world, the continuous rise in air and sound pollution has become a serious </a:t>
            </a:r>
            <a:r>
              <a:rPr lang="en-US" sz="3400" dirty="0" smtClean="0">
                <a:latin typeface="Times New Roman" panose="02020603050405020304" pitchFamily="18" charset="0"/>
                <a:cs typeface="Times New Roman" panose="02020603050405020304" pitchFamily="18" charset="0"/>
              </a:rPr>
              <a:t>problem. Controlling </a:t>
            </a:r>
            <a:r>
              <a:rPr lang="en-US" sz="3400" dirty="0">
                <a:latin typeface="Times New Roman" panose="02020603050405020304" pitchFamily="18" charset="0"/>
                <a:cs typeface="Times New Roman" panose="02020603050405020304" pitchFamily="18" charset="0"/>
              </a:rPr>
              <a:t>and carefully monitoring the situation has become necessary in order to take the necessary steps to alleviate the </a:t>
            </a:r>
            <a:r>
              <a:rPr lang="en-US" sz="3400" dirty="0" smtClean="0">
                <a:latin typeface="Times New Roman" panose="02020603050405020304" pitchFamily="18" charset="0"/>
                <a:cs typeface="Times New Roman" panose="02020603050405020304" pitchFamily="18" charset="0"/>
              </a:rPr>
              <a:t>situation.</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This </a:t>
            </a:r>
            <a:r>
              <a:rPr lang="en-US" sz="3400" dirty="0">
                <a:latin typeface="Times New Roman" panose="02020603050405020304" pitchFamily="18" charset="0"/>
                <a:cs typeface="Times New Roman" panose="02020603050405020304" pitchFamily="18" charset="0"/>
              </a:rPr>
              <a:t>research has proposed an IOT-based technique for monitoring the air quality index and noise intensity of a region. </a:t>
            </a:r>
          </a:p>
        </p:txBody>
      </p:sp>
    </p:spTree>
    <p:extLst>
      <p:ext uri="{BB962C8B-B14F-4D97-AF65-F5344CB8AC3E}">
        <p14:creationId xmlns:p14="http://schemas.microsoft.com/office/powerpoint/2010/main" val="16790993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75" y="0"/>
            <a:ext cx="12496803" cy="689419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 </a:t>
            </a:r>
            <a:r>
              <a:rPr lang="en-US" sz="3400" dirty="0" smtClean="0">
                <a:latin typeface="Times New Roman" panose="02020603050405020304" pitchFamily="18" charset="0"/>
                <a:cs typeface="Times New Roman" panose="02020603050405020304" pitchFamily="18" charset="0"/>
              </a:rPr>
              <a:t>Noise </a:t>
            </a:r>
            <a:r>
              <a:rPr lang="en-US" sz="3400" dirty="0">
                <a:latin typeface="Times New Roman" panose="02020603050405020304" pitchFamily="18" charset="0"/>
                <a:cs typeface="Times New Roman" panose="02020603050405020304" pitchFamily="18" charset="0"/>
              </a:rPr>
              <a:t>pollution is becoming a more significant concern, resulting in a slew of environmental issues such as the fog-haze weather </a:t>
            </a:r>
            <a:r>
              <a:rPr lang="en-US" sz="3400" dirty="0" err="1" smtClean="0">
                <a:latin typeface="Times New Roman" panose="02020603050405020304" pitchFamily="18" charset="0"/>
                <a:cs typeface="Times New Roman" panose="02020603050405020304" pitchFamily="18" charset="0"/>
              </a:rPr>
              <a:t>phenomenon,which</a:t>
            </a:r>
            <a:r>
              <a:rPr lang="en-US" sz="3400" dirty="0" smtClean="0">
                <a:latin typeface="Times New Roman" panose="02020603050405020304" pitchFamily="18" charset="0"/>
                <a:cs typeface="Times New Roman" panose="02020603050405020304" pitchFamily="18" charset="0"/>
              </a:rPr>
              <a:t> </a:t>
            </a:r>
            <a:r>
              <a:rPr lang="en-US" sz="3400" dirty="0">
                <a:latin typeface="Times New Roman" panose="02020603050405020304" pitchFamily="18" charset="0"/>
                <a:cs typeface="Times New Roman" panose="02020603050405020304" pitchFamily="18" charset="0"/>
              </a:rPr>
              <a:t>can be hazardous to human </a:t>
            </a:r>
            <a:r>
              <a:rPr lang="en-US" sz="3400" dirty="0" smtClean="0">
                <a:latin typeface="Times New Roman" panose="02020603050405020304" pitchFamily="18" charset="0"/>
                <a:cs typeface="Times New Roman" panose="02020603050405020304" pitchFamily="18" charset="0"/>
              </a:rPr>
              <a:t>health.</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design and manufacturing of a portable sensory system for air pollution monitoring that can detect temperature, humidity, and particle matter is the topic of this </a:t>
            </a:r>
            <a:r>
              <a:rPr lang="en-US" sz="3400" dirty="0" smtClean="0">
                <a:latin typeface="Times New Roman" panose="02020603050405020304" pitchFamily="18" charset="0"/>
                <a:cs typeface="Times New Roman" panose="02020603050405020304" pitchFamily="18" charset="0"/>
              </a:rPr>
              <a:t>research(PM</a:t>
            </a:r>
            <a:r>
              <a:rPr lang="en-US" sz="3400" dirty="0">
                <a:latin typeface="Times New Roman" panose="02020603050405020304" pitchFamily="18" charset="0"/>
                <a:cs typeface="Times New Roman" panose="02020603050405020304" pitchFamily="18" charset="0"/>
              </a:rPr>
              <a:t>)</a:t>
            </a:r>
            <a:r>
              <a:rPr lang="en-US" dirty="0"/>
              <a:t>. </a:t>
            </a:r>
            <a:endParaRPr lang="en-US" dirty="0" smtClean="0"/>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It </a:t>
            </a:r>
            <a:r>
              <a:rPr lang="en-US" sz="3400" dirty="0">
                <a:latin typeface="Times New Roman" panose="02020603050405020304" pitchFamily="18" charset="0"/>
                <a:cs typeface="Times New Roman" panose="02020603050405020304" pitchFamily="18" charset="0"/>
              </a:rPr>
              <a:t>detecting impurities using gas sensor. The sensor is connected to the </a:t>
            </a:r>
            <a:r>
              <a:rPr lang="en-US" sz="3400" dirty="0" err="1">
                <a:latin typeface="Times New Roman" panose="02020603050405020304" pitchFamily="18" charset="0"/>
                <a:cs typeface="Times New Roman" panose="02020603050405020304" pitchFamily="18" charset="0"/>
              </a:rPr>
              <a:t>Arduino</a:t>
            </a:r>
            <a:r>
              <a:rPr lang="en-US" sz="3400" dirty="0">
                <a:latin typeface="Times New Roman" panose="02020603050405020304" pitchFamily="18" charset="0"/>
                <a:cs typeface="Times New Roman" panose="02020603050405020304" pitchFamily="18" charset="0"/>
              </a:rPr>
              <a:t> which consist of code which will help us in detecting the amount of impurities in the air</a:t>
            </a:r>
            <a:r>
              <a:rPr lang="en-US" sz="3400" dirty="0" smtClean="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r>
              <a:rPr lang="en-US" sz="3400" dirty="0" err="1">
                <a:latin typeface="Times New Roman" panose="02020603050405020304" pitchFamily="18" charset="0"/>
                <a:cs typeface="Times New Roman" panose="02020603050405020304" pitchFamily="18" charset="0"/>
              </a:rPr>
              <a:t>Baihaqi</a:t>
            </a:r>
            <a:r>
              <a:rPr lang="en-US" sz="3400" dirty="0">
                <a:latin typeface="Times New Roman" panose="02020603050405020304" pitchFamily="18" charset="0"/>
                <a:cs typeface="Times New Roman" panose="02020603050405020304" pitchFamily="18" charset="0"/>
              </a:rPr>
              <a:t> </a:t>
            </a:r>
            <a:r>
              <a:rPr lang="en-US" sz="3400" dirty="0" err="1">
                <a:latin typeface="Times New Roman" panose="02020603050405020304" pitchFamily="18" charset="0"/>
                <a:cs typeface="Times New Roman" panose="02020603050405020304" pitchFamily="18" charset="0"/>
              </a:rPr>
              <a:t>Siregar</a:t>
            </a:r>
            <a:r>
              <a:rPr lang="en-US" sz="3400" dirty="0">
                <a:latin typeface="Times New Roman" panose="02020603050405020304" pitchFamily="18" charset="0"/>
                <a:cs typeface="Times New Roman" panose="02020603050405020304" pitchFamily="18" charset="0"/>
              </a:rPr>
              <a:t> says </a:t>
            </a:r>
            <a:r>
              <a:rPr lang="en-US" sz="3400" dirty="0">
                <a:solidFill>
                  <a:srgbClr val="FF0000"/>
                </a:solidFill>
                <a:latin typeface="Times New Roman" panose="02020603050405020304" pitchFamily="18" charset="0"/>
                <a:cs typeface="Times New Roman" panose="02020603050405020304" pitchFamily="18" charset="0"/>
              </a:rPr>
              <a:t>wireless sensor </a:t>
            </a:r>
            <a:r>
              <a:rPr lang="en-US" sz="3400" dirty="0" smtClean="0">
                <a:solidFill>
                  <a:srgbClr val="FF0000"/>
                </a:solidFill>
                <a:latin typeface="Times New Roman" panose="02020603050405020304" pitchFamily="18" charset="0"/>
                <a:cs typeface="Times New Roman" panose="02020603050405020304" pitchFamily="18" charset="0"/>
              </a:rPr>
              <a:t>network(WSN</a:t>
            </a:r>
            <a:r>
              <a:rPr lang="en-US" sz="3400" dirty="0">
                <a:solidFill>
                  <a:srgbClr val="FF0000"/>
                </a:solidFill>
                <a:latin typeface="Times New Roman" panose="02020603050405020304" pitchFamily="18" charset="0"/>
                <a:cs typeface="Times New Roman" panose="02020603050405020304" pitchFamily="18" charset="0"/>
              </a:rPr>
              <a:t>) </a:t>
            </a:r>
            <a:r>
              <a:rPr lang="en-US" sz="3400" dirty="0">
                <a:latin typeface="Times New Roman" panose="02020603050405020304" pitchFamily="18" charset="0"/>
                <a:cs typeface="Times New Roman" panose="02020603050405020304" pitchFamily="18" charset="0"/>
              </a:rPr>
              <a:t>utilizing wasp mote smart cities device, connected with several sensors, such as </a:t>
            </a:r>
            <a:r>
              <a:rPr lang="en-US" sz="3400" dirty="0">
                <a:solidFill>
                  <a:srgbClr val="FF0000"/>
                </a:solidFill>
                <a:latin typeface="Times New Roman" panose="02020603050405020304" pitchFamily="18" charset="0"/>
                <a:cs typeface="Times New Roman" panose="02020603050405020304" pitchFamily="18" charset="0"/>
              </a:rPr>
              <a:t>dust sensor PM-10 (GPY21010AU0F</a:t>
            </a:r>
            <a:r>
              <a:rPr lang="en-US" sz="3400" dirty="0" smtClean="0">
                <a:solidFill>
                  <a:srgbClr val="FF0000"/>
                </a:solidFill>
                <a:latin typeface="Times New Roman" panose="02020603050405020304" pitchFamily="18" charset="0"/>
                <a:cs typeface="Times New Roman" panose="02020603050405020304" pitchFamily="18" charset="0"/>
              </a:rPr>
              <a:t>)</a:t>
            </a:r>
            <a:r>
              <a:rPr lang="en-US" sz="3400" dirty="0" smtClean="0">
                <a:latin typeface="Times New Roman" panose="02020603050405020304" pitchFamily="18" charset="0"/>
                <a:cs typeface="Times New Roman" panose="02020603050405020304" pitchFamily="18" charset="0"/>
              </a:rPr>
              <a:t>,</a:t>
            </a:r>
            <a:r>
              <a:rPr lang="en-US" sz="3400" dirty="0" smtClean="0">
                <a:solidFill>
                  <a:srgbClr val="FF0000"/>
                </a:solidFill>
                <a:latin typeface="Times New Roman" panose="02020603050405020304" pitchFamily="18" charset="0"/>
                <a:cs typeface="Times New Roman" panose="02020603050405020304" pitchFamily="18" charset="0"/>
              </a:rPr>
              <a:t>humidity sensor(808H5V5</a:t>
            </a:r>
            <a:r>
              <a:rPr lang="en-US" sz="3400" dirty="0">
                <a:solidFill>
                  <a:srgbClr val="FF0000"/>
                </a:solidFill>
                <a:latin typeface="Times New Roman" panose="02020603050405020304" pitchFamily="18" charset="0"/>
                <a:cs typeface="Times New Roman" panose="02020603050405020304" pitchFamily="18" charset="0"/>
              </a:rPr>
              <a:t>)</a:t>
            </a:r>
            <a:r>
              <a:rPr lang="en-US" sz="3400" dirty="0">
                <a:latin typeface="Times New Roman" panose="02020603050405020304" pitchFamily="18" charset="0"/>
                <a:cs typeface="Times New Roman" panose="02020603050405020304" pitchFamily="18" charset="0"/>
              </a:rPr>
              <a:t>,</a:t>
            </a:r>
            <a:r>
              <a:rPr lang="en-US" sz="3400" dirty="0">
                <a:solidFill>
                  <a:srgbClr val="FF0000"/>
                </a:solidFill>
                <a:latin typeface="Times New Roman" panose="02020603050405020304" pitchFamily="18" charset="0"/>
                <a:cs typeface="Times New Roman" panose="02020603050405020304" pitchFamily="18" charset="0"/>
              </a:rPr>
              <a:t> luminosity </a:t>
            </a:r>
            <a:r>
              <a:rPr lang="en-US" sz="3400" dirty="0" smtClean="0">
                <a:solidFill>
                  <a:srgbClr val="FF0000"/>
                </a:solidFill>
                <a:latin typeface="Times New Roman" panose="02020603050405020304" pitchFamily="18" charset="0"/>
                <a:cs typeface="Times New Roman" panose="02020603050405020304" pitchFamily="18" charset="0"/>
              </a:rPr>
              <a:t>sensor(LDR)</a:t>
            </a:r>
            <a:r>
              <a:rPr lang="en-US" sz="3400" dirty="0" smtClean="0">
                <a:latin typeface="Times New Roman" panose="02020603050405020304" pitchFamily="18" charset="0"/>
                <a:cs typeface="Times New Roman" panose="02020603050405020304" pitchFamily="18" charset="0"/>
              </a:rPr>
              <a:t>,and </a:t>
            </a:r>
            <a:r>
              <a:rPr lang="en-US" sz="3400" dirty="0" smtClean="0">
                <a:solidFill>
                  <a:srgbClr val="FF0000"/>
                </a:solidFill>
                <a:latin typeface="Times New Roman" panose="02020603050405020304" pitchFamily="18" charset="0"/>
                <a:cs typeface="Times New Roman" panose="02020603050405020304" pitchFamily="18" charset="0"/>
              </a:rPr>
              <a:t>microphone(DBA)</a:t>
            </a:r>
            <a:r>
              <a:rPr lang="en-US" sz="3400" dirty="0" smtClean="0">
                <a:latin typeface="Times New Roman" panose="02020603050405020304" pitchFamily="18" charset="0"/>
                <a:cs typeface="Times New Roman" panose="02020603050405020304" pitchFamily="18" charset="0"/>
              </a:rPr>
              <a:t>. </a:t>
            </a:r>
            <a:endParaRPr lang="en-US"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1256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12879"/>
            <a:ext cx="4968027"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METHODOLOGY</a:t>
            </a:r>
          </a:p>
        </p:txBody>
      </p:sp>
      <p:sp>
        <p:nvSpPr>
          <p:cNvPr id="3" name="Rectangle 2"/>
          <p:cNvSpPr/>
          <p:nvPr/>
        </p:nvSpPr>
        <p:spPr>
          <a:xfrm>
            <a:off x="539299" y="825861"/>
            <a:ext cx="11656993" cy="5324535"/>
          </a:xfrm>
          <a:prstGeom prst="rect">
            <a:avLst/>
          </a:prstGeom>
        </p:spPr>
        <p:txBody>
          <a:bodyPr wrap="square">
            <a:spAutoFit/>
          </a:bodyPr>
          <a:lstStyle/>
          <a:p>
            <a:pPr marL="457200" indent="-45720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The project is geared toward developing a system capable of Monitoring pollutants within the air and noise within the </a:t>
            </a:r>
            <a:r>
              <a:rPr lang="en-US" sz="3400" dirty="0" smtClean="0">
                <a:latin typeface="Times New Roman" panose="02020603050405020304" pitchFamily="18" charset="0"/>
                <a:cs typeface="Times New Roman" panose="02020603050405020304" pitchFamily="18" charset="0"/>
              </a:rPr>
              <a:t>sound.</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projected System was developed exploitation Raspberry pi, sound device, Gas device and temperature device. This air quality and sound quality detection and observance System provides real time information which might be accessed from Computers and mobile </a:t>
            </a:r>
            <a:r>
              <a:rPr lang="en-US" sz="3400" dirty="0" smtClean="0">
                <a:latin typeface="Times New Roman" panose="02020603050405020304" pitchFamily="18" charset="0"/>
                <a:cs typeface="Times New Roman" panose="02020603050405020304" pitchFamily="18" charset="0"/>
              </a:rPr>
              <a:t>devices.</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diagram of the projected system is illustrated in Figure one.</a:t>
            </a:r>
            <a:r>
              <a:rPr lang="en-US" dirty="0"/>
              <a:t> </a:t>
            </a:r>
          </a:p>
        </p:txBody>
      </p:sp>
    </p:spTree>
    <p:extLst>
      <p:ext uri="{BB962C8B-B14F-4D97-AF65-F5344CB8AC3E}">
        <p14:creationId xmlns:p14="http://schemas.microsoft.com/office/powerpoint/2010/main" val="26724918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12879"/>
            <a:ext cx="5581977"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BLOCK DIAGRAM</a:t>
            </a:r>
          </a:p>
        </p:txBody>
      </p:sp>
      <p:pic>
        <p:nvPicPr>
          <p:cNvPr id="3" name="Picture 2"/>
          <p:cNvPicPr/>
          <p:nvPr/>
        </p:nvPicPr>
        <p:blipFill rotWithShape="1">
          <a:blip r:embed="rId2"/>
          <a:srcRect r="303"/>
          <a:stretch/>
        </p:blipFill>
        <p:spPr>
          <a:xfrm>
            <a:off x="1450155" y="983594"/>
            <a:ext cx="8479455" cy="55975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72369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65" y="0"/>
            <a:ext cx="5242141"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SYSTEM DESIGN</a:t>
            </a:r>
          </a:p>
        </p:txBody>
      </p:sp>
      <p:sp>
        <p:nvSpPr>
          <p:cNvPr id="4" name="Rectangle 3"/>
          <p:cNvSpPr/>
          <p:nvPr/>
        </p:nvSpPr>
        <p:spPr>
          <a:xfrm>
            <a:off x="343434" y="784055"/>
            <a:ext cx="11848566" cy="5847755"/>
          </a:xfrm>
          <a:prstGeom prst="rect">
            <a:avLst/>
          </a:prstGeom>
        </p:spPr>
        <p:txBody>
          <a:bodyPr wrap="square">
            <a:spAutoFit/>
          </a:bodyPr>
          <a:lstStyle/>
          <a:p>
            <a:pPr marL="285750" indent="-28575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The MQ135 and MQ9 Gas sensing element was accustomed collect pollution. And sound sensing element and temperature sensing element (LM35) accustomed collect sound intensity and temperature </a:t>
            </a:r>
            <a:r>
              <a:rPr lang="en-US" sz="3400" dirty="0" smtClean="0">
                <a:latin typeface="Times New Roman" panose="02020603050405020304" pitchFamily="18" charset="0"/>
                <a:cs typeface="Times New Roman" panose="02020603050405020304" pitchFamily="18" charset="0"/>
              </a:rPr>
              <a:t>severally.</a:t>
            </a:r>
          </a:p>
          <a:p>
            <a:pPr marL="285750" indent="-28575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information is transmitted via LAN module that is gift in raspberry pi mistreatment the web to the cloud servers, this info may be retrieved via sensible phone or internet enabled devices</a:t>
            </a:r>
            <a:r>
              <a:rPr lang="en-US" sz="3400"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 The transmission and retrieving of information happens in close to real </a:t>
            </a:r>
            <a:r>
              <a:rPr lang="en-US" sz="3400" dirty="0" smtClean="0">
                <a:latin typeface="Times New Roman" panose="02020603050405020304" pitchFamily="18" charset="0"/>
                <a:cs typeface="Times New Roman" panose="02020603050405020304" pitchFamily="18" charset="0"/>
              </a:rPr>
              <a:t>time</a:t>
            </a:r>
            <a:r>
              <a:rPr lang="en-US" sz="3400" dirty="0">
                <a:latin typeface="Times New Roman" panose="02020603050405020304" pitchFamily="18" charset="0"/>
                <a:cs typeface="Times New Roman" panose="02020603050405020304" pitchFamily="18" charset="0"/>
              </a:rPr>
              <a:t>.</a:t>
            </a:r>
            <a:endParaRPr lang="en-US" sz="34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information of the parameters being measured area unit displayed on a 16*2 alphanumeric display screen</a:t>
            </a:r>
            <a:r>
              <a:rPr lang="en-US" sz="34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792072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253" y="0"/>
            <a:ext cx="11681138" cy="2708434"/>
          </a:xfrm>
          <a:prstGeom prst="rect">
            <a:avLst/>
          </a:prstGeom>
        </p:spPr>
        <p:txBody>
          <a:bodyPr wrap="square">
            <a:spAutoFit/>
          </a:bodyPr>
          <a:lstStyle/>
          <a:p>
            <a:pPr marL="285750" indent="-285750">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AN alarm would sound within the event once the pollution and pollution is </a:t>
            </a:r>
            <a:r>
              <a:rPr lang="en-US" sz="3400" dirty="0" smtClean="0">
                <a:latin typeface="Times New Roman" panose="02020603050405020304" pitchFamily="18" charset="0"/>
                <a:cs typeface="Times New Roman" panose="02020603050405020304" pitchFamily="18" charset="0"/>
              </a:rPr>
              <a:t>detected And </a:t>
            </a:r>
            <a:r>
              <a:rPr lang="en-US" sz="3400" dirty="0">
                <a:latin typeface="Times New Roman" panose="02020603050405020304" pitchFamily="18" charset="0"/>
                <a:cs typeface="Times New Roman" panose="02020603050405020304" pitchFamily="18" charset="0"/>
              </a:rPr>
              <a:t>information is send to cloud storage which is easily available for </a:t>
            </a:r>
            <a:r>
              <a:rPr lang="en-US" sz="3400" dirty="0" smtClean="0">
                <a:latin typeface="Times New Roman" panose="02020603050405020304" pitchFamily="18" charset="0"/>
                <a:cs typeface="Times New Roman" panose="02020603050405020304" pitchFamily="18" charset="0"/>
              </a:rPr>
              <a:t>anyone.</a:t>
            </a:r>
          </a:p>
          <a:p>
            <a:pPr marL="285750" indent="-28575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Also it draw the graph on thing speak site for analysis the data for government authority.</a:t>
            </a:r>
            <a:endParaRPr lang="en-US" sz="3400" dirty="0">
              <a:latin typeface="Times New Roman" panose="02020603050405020304" pitchFamily="18" charset="0"/>
              <a:cs typeface="Times New Roman" panose="02020603050405020304" pitchFamily="18" charset="0"/>
            </a:endParaRPr>
          </a:p>
        </p:txBody>
      </p:sp>
      <p:sp>
        <p:nvSpPr>
          <p:cNvPr id="3" name="Rectangle 2"/>
          <p:cNvSpPr/>
          <p:nvPr/>
        </p:nvSpPr>
        <p:spPr>
          <a:xfrm>
            <a:off x="-12879" y="2682676"/>
            <a:ext cx="7734810"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SYSTEM SPECIFICATION</a:t>
            </a:r>
          </a:p>
        </p:txBody>
      </p:sp>
      <p:sp>
        <p:nvSpPr>
          <p:cNvPr id="4" name="Rectangle 3"/>
          <p:cNvSpPr/>
          <p:nvPr/>
        </p:nvSpPr>
        <p:spPr>
          <a:xfrm>
            <a:off x="417694" y="3606006"/>
            <a:ext cx="7304237" cy="2585323"/>
          </a:xfrm>
          <a:prstGeom prst="rect">
            <a:avLst/>
          </a:prstGeom>
        </p:spPr>
        <p:txBody>
          <a:bodyPr wrap="square">
            <a:spAutoFit/>
          </a:bodyPr>
          <a:lstStyle/>
          <a:p>
            <a:r>
              <a:rPr lang="en-US" sz="5400" dirty="0" smtClean="0">
                <a:latin typeface="Times New Roman" panose="02020603050405020304" pitchFamily="18" charset="0"/>
                <a:cs typeface="Times New Roman" panose="02020603050405020304" pitchFamily="18" charset="0"/>
              </a:rPr>
              <a:t>1. Raspberry PI </a:t>
            </a:r>
          </a:p>
          <a:p>
            <a:r>
              <a:rPr lang="en-US" sz="5400" dirty="0">
                <a:latin typeface="Times New Roman" panose="02020603050405020304" pitchFamily="18" charset="0"/>
                <a:cs typeface="Times New Roman" panose="02020603050405020304" pitchFamily="18" charset="0"/>
              </a:rPr>
              <a:t>2. MQ9 </a:t>
            </a:r>
            <a:r>
              <a:rPr lang="en-US" sz="5400" dirty="0" smtClean="0">
                <a:latin typeface="Times New Roman" panose="02020603050405020304" pitchFamily="18" charset="0"/>
                <a:cs typeface="Times New Roman" panose="02020603050405020304" pitchFamily="18" charset="0"/>
              </a:rPr>
              <a:t>Sensor</a:t>
            </a:r>
          </a:p>
          <a:p>
            <a:r>
              <a:rPr lang="en-US" sz="5400" dirty="0">
                <a:latin typeface="Times New Roman" panose="02020603050405020304" pitchFamily="18" charset="0"/>
                <a:cs typeface="Times New Roman" panose="02020603050405020304" pitchFamily="18" charset="0"/>
              </a:rPr>
              <a:t>3. Temp </a:t>
            </a:r>
            <a:r>
              <a:rPr lang="en-US" sz="5400" dirty="0" smtClean="0">
                <a:latin typeface="Times New Roman" panose="02020603050405020304" pitchFamily="18" charset="0"/>
                <a:cs typeface="Times New Roman" panose="02020603050405020304" pitchFamily="18" charset="0"/>
              </a:rPr>
              <a:t>Sensor</a:t>
            </a:r>
          </a:p>
        </p:txBody>
      </p:sp>
      <p:sp>
        <p:nvSpPr>
          <p:cNvPr id="5" name="Rectangle 4"/>
          <p:cNvSpPr/>
          <p:nvPr/>
        </p:nvSpPr>
        <p:spPr>
          <a:xfrm>
            <a:off x="5735391" y="3606005"/>
            <a:ext cx="6096000" cy="2585323"/>
          </a:xfrm>
          <a:prstGeom prst="rect">
            <a:avLst/>
          </a:prstGeom>
        </p:spPr>
        <p:txBody>
          <a:bodyPr>
            <a:spAutoFit/>
          </a:bodyPr>
          <a:lstStyle/>
          <a:p>
            <a:r>
              <a:rPr lang="en-US" sz="5400" dirty="0">
                <a:latin typeface="Times New Roman" panose="02020603050405020304" pitchFamily="18" charset="0"/>
                <a:cs typeface="Times New Roman" panose="02020603050405020304" pitchFamily="18" charset="0"/>
              </a:rPr>
              <a:t>4. Sound Sensor </a:t>
            </a:r>
          </a:p>
          <a:p>
            <a:r>
              <a:rPr lang="en-US" sz="5400" dirty="0">
                <a:latin typeface="Times New Roman" panose="02020603050405020304" pitchFamily="18" charset="0"/>
                <a:cs typeface="Times New Roman" panose="02020603050405020304" pitchFamily="18" charset="0"/>
              </a:rPr>
              <a:t>5. MQ135 Sensor </a:t>
            </a:r>
          </a:p>
          <a:p>
            <a:r>
              <a:rPr lang="en-US" sz="5400" dirty="0">
                <a:latin typeface="Times New Roman" panose="02020603050405020304" pitchFamily="18" charset="0"/>
                <a:cs typeface="Times New Roman" panose="02020603050405020304" pitchFamily="18" charset="0"/>
              </a:rPr>
              <a:t>6. Buzzer </a:t>
            </a:r>
          </a:p>
        </p:txBody>
      </p:sp>
    </p:spTree>
    <p:extLst>
      <p:ext uri="{BB962C8B-B14F-4D97-AF65-F5344CB8AC3E}">
        <p14:creationId xmlns:p14="http://schemas.microsoft.com/office/powerpoint/2010/main" val="6443440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716630"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1.RASPBERRY PI</a:t>
            </a:r>
            <a:endParaRPr lang="en-US" sz="5400" b="1" dirty="0">
              <a:solidFill>
                <a:schemeClr val="bg1"/>
              </a:solidFill>
              <a:latin typeface="Algerian" panose="04020705040A02060702" pitchFamily="82" charset="0"/>
            </a:endParaRPr>
          </a:p>
        </p:txBody>
      </p:sp>
      <p:sp>
        <p:nvSpPr>
          <p:cNvPr id="4" name="Rectangle 3"/>
          <p:cNvSpPr/>
          <p:nvPr/>
        </p:nvSpPr>
        <p:spPr>
          <a:xfrm>
            <a:off x="369191" y="730147"/>
            <a:ext cx="11436439" cy="3231654"/>
          </a:xfrm>
          <a:prstGeom prst="rect">
            <a:avLst/>
          </a:prstGeom>
        </p:spPr>
        <p:txBody>
          <a:bodyPr wrap="square">
            <a:spAutoFit/>
          </a:bodyPr>
          <a:lstStyle/>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Raspberry Pi may be a low cost, credit-card sized pc that plugs into a pc monitor or TV, and uses a customary keyboard and mouse. it's a capable very little device that permits individuals of all ages to explore computing, and to be told the way to program in languages like Scratch and </a:t>
            </a:r>
            <a:r>
              <a:rPr lang="en-US" sz="3400" dirty="0" smtClean="0">
                <a:latin typeface="Times New Roman" panose="02020603050405020304" pitchFamily="18" charset="0"/>
                <a:cs typeface="Times New Roman" panose="02020603050405020304" pitchFamily="18" charset="0"/>
              </a:rPr>
              <a:t>Python</a:t>
            </a:r>
            <a:r>
              <a:rPr lang="en-US" sz="3400" dirty="0"/>
              <a:t>.</a:t>
            </a:r>
          </a:p>
          <a:p>
            <a:endParaRPr lang="en-US" sz="3400" dirty="0"/>
          </a:p>
        </p:txBody>
      </p:sp>
      <p:pic>
        <p:nvPicPr>
          <p:cNvPr id="5" name="Picture 4"/>
          <p:cNvPicPr/>
          <p:nvPr/>
        </p:nvPicPr>
        <p:blipFill>
          <a:blip r:embed="rId2"/>
          <a:stretch>
            <a:fillRect/>
          </a:stretch>
        </p:blipFill>
        <p:spPr>
          <a:xfrm>
            <a:off x="3340478" y="3644723"/>
            <a:ext cx="5061397" cy="28204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018438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77274"/>
            <a:ext cx="4987263"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2. </a:t>
            </a:r>
            <a:r>
              <a:rPr lang="en-US" sz="5400" b="1" dirty="0" smtClean="0">
                <a:solidFill>
                  <a:schemeClr val="bg1"/>
                </a:solidFill>
                <a:latin typeface="Algerian" panose="04020705040A02060702" pitchFamily="82" charset="0"/>
                <a:cs typeface="Times New Roman" panose="02020603050405020304" pitchFamily="18" charset="0"/>
              </a:rPr>
              <a:t>MQ9 SENSOR</a:t>
            </a:r>
            <a:endParaRPr lang="en-US" sz="5400" b="1" dirty="0">
              <a:solidFill>
                <a:schemeClr val="bg1"/>
              </a:solidFill>
              <a:latin typeface="Algerian" panose="04020705040A02060702" pitchFamily="82" charset="0"/>
              <a:cs typeface="Times New Roman" panose="02020603050405020304" pitchFamily="18" charset="0"/>
            </a:endParaRPr>
          </a:p>
        </p:txBody>
      </p:sp>
      <p:sp>
        <p:nvSpPr>
          <p:cNvPr id="3" name="Rectangle 2"/>
          <p:cNvSpPr/>
          <p:nvPr/>
        </p:nvSpPr>
        <p:spPr>
          <a:xfrm>
            <a:off x="343433" y="627113"/>
            <a:ext cx="11590987" cy="3754874"/>
          </a:xfrm>
          <a:prstGeom prst="rect">
            <a:avLst/>
          </a:prstGeom>
        </p:spPr>
        <p:txBody>
          <a:bodyPr wrap="square">
            <a:spAutoFit/>
          </a:bodyPr>
          <a:lstStyle/>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This MQ-9 </a:t>
            </a:r>
            <a:r>
              <a:rPr lang="en-US" sz="3400" dirty="0">
                <a:latin typeface="Times New Roman" panose="02020603050405020304" pitchFamily="18" charset="0"/>
                <a:cs typeface="Times New Roman" panose="02020603050405020304" pitchFamily="18" charset="0"/>
              </a:rPr>
              <a:t>CO gas, Methane, and LPG Gas sensor Module are accustomed sense CO gas and aliphatic compound Gas.  SnO2 is the sensitive material of the gas sensor MQ9, that has lower physical phenomenon in clean air. It makes detection by the maneuver of cycle high and cold, and sight CO once the cold (heated by one.5V). The sensor’s physical phenomenon is higher at the facet of the gas concentration </a:t>
            </a:r>
            <a:r>
              <a:rPr lang="en-US" sz="3400" dirty="0" smtClean="0">
                <a:latin typeface="Times New Roman" panose="02020603050405020304" pitchFamily="18" charset="0"/>
                <a:cs typeface="Times New Roman" panose="02020603050405020304" pitchFamily="18" charset="0"/>
              </a:rPr>
              <a:t>rising.</a:t>
            </a:r>
            <a:endParaRPr lang="en-US" sz="3400" dirty="0">
              <a:latin typeface="Times New Roman" panose="02020603050405020304" pitchFamily="18" charset="0"/>
              <a:cs typeface="Times New Roman" panose="02020603050405020304" pitchFamily="18" charset="0"/>
            </a:endParaRPr>
          </a:p>
        </p:txBody>
      </p:sp>
      <p:pic>
        <p:nvPicPr>
          <p:cNvPr id="17" name="Picture 16"/>
          <p:cNvPicPr/>
          <p:nvPr/>
        </p:nvPicPr>
        <p:blipFill>
          <a:blip r:embed="rId2"/>
          <a:stretch>
            <a:fillRect/>
          </a:stretch>
        </p:blipFill>
        <p:spPr>
          <a:xfrm>
            <a:off x="3528811" y="4381206"/>
            <a:ext cx="4430333" cy="2327906"/>
          </a:xfrm>
          <a:prstGeom prst="ellipse">
            <a:avLst/>
          </a:prstGeom>
          <a:ln>
            <a:noFill/>
          </a:ln>
          <a:effectLst>
            <a:softEdge rad="112500"/>
          </a:effectLst>
        </p:spPr>
      </p:pic>
    </p:spTree>
    <p:extLst>
      <p:ext uri="{BB962C8B-B14F-4D97-AF65-F5344CB8AC3E}">
        <p14:creationId xmlns:p14="http://schemas.microsoft.com/office/powerpoint/2010/main" val="12474540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370381"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3.TEMP SENSOR</a:t>
            </a:r>
            <a:endParaRPr lang="en-US" sz="5400" b="1" dirty="0">
              <a:solidFill>
                <a:schemeClr val="bg1"/>
              </a:solidFill>
              <a:latin typeface="Algerian" panose="04020705040A02060702" pitchFamily="82" charset="0"/>
              <a:cs typeface="Times New Roman" panose="02020603050405020304" pitchFamily="18" charset="0"/>
            </a:endParaRPr>
          </a:p>
        </p:txBody>
      </p:sp>
      <p:sp>
        <p:nvSpPr>
          <p:cNvPr id="4" name="Rectangle 3"/>
          <p:cNvSpPr/>
          <p:nvPr/>
        </p:nvSpPr>
        <p:spPr>
          <a:xfrm>
            <a:off x="330560" y="717266"/>
            <a:ext cx="11861440" cy="3539430"/>
          </a:xfrm>
          <a:prstGeom prst="rect">
            <a:avLst/>
          </a:prstGeom>
        </p:spPr>
        <p:txBody>
          <a:bodyPr wrap="square">
            <a:spAutoFit/>
          </a:bodyPr>
          <a:lstStyle/>
          <a:p>
            <a:pPr marL="457200" indent="-45720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 A temperature detector may be a device accustomed live temperature. this may be air temperature, liquid temperature or the temperature of solid matter. There </a:t>
            </a:r>
            <a:r>
              <a:rPr lang="en-US" sz="3200" dirty="0" smtClean="0">
                <a:latin typeface="Times New Roman" panose="02020603050405020304" pitchFamily="18" charset="0"/>
                <a:cs typeface="Times New Roman" panose="02020603050405020304" pitchFamily="18" charset="0"/>
              </a:rPr>
              <a:t>are differing </a:t>
            </a:r>
            <a:r>
              <a:rPr lang="en-US" sz="3200" dirty="0">
                <a:latin typeface="Times New Roman" panose="02020603050405020304" pitchFamily="18" charset="0"/>
                <a:cs typeface="Times New Roman" panose="02020603050405020304" pitchFamily="18" charset="0"/>
              </a:rPr>
              <a:t>types </a:t>
            </a:r>
            <a:r>
              <a:rPr lang="en-US" sz="3200" dirty="0" smtClean="0">
                <a:latin typeface="Times New Roman" panose="02020603050405020304" pitchFamily="18" charset="0"/>
                <a:cs typeface="Times New Roman" panose="02020603050405020304" pitchFamily="18" charset="0"/>
              </a:rPr>
              <a:t>of temperature </a:t>
            </a:r>
            <a:r>
              <a:rPr lang="en-US" sz="3200" dirty="0">
                <a:latin typeface="Times New Roman" panose="02020603050405020304" pitchFamily="18" charset="0"/>
                <a:cs typeface="Times New Roman" panose="02020603050405020304" pitchFamily="18" charset="0"/>
              </a:rPr>
              <a:t>sensors offered and them every use totally different technologies and principles to require the temperature activity. Temperature sensors accustomed measure temperature in many alternative applications and </a:t>
            </a:r>
            <a:r>
              <a:rPr lang="en-US" sz="3200" dirty="0" smtClean="0">
                <a:latin typeface="Times New Roman" panose="02020603050405020304" pitchFamily="18" charset="0"/>
                <a:cs typeface="Times New Roman" panose="02020603050405020304" pitchFamily="18" charset="0"/>
              </a:rPr>
              <a:t>industries.</a:t>
            </a:r>
            <a:endParaRPr lang="en-US" sz="3200" dirty="0">
              <a:latin typeface="Times New Roman" panose="02020603050405020304" pitchFamily="18" charset="0"/>
              <a:cs typeface="Times New Roman" panose="02020603050405020304" pitchFamily="18" charset="0"/>
            </a:endParaRPr>
          </a:p>
        </p:txBody>
      </p:sp>
      <p:pic>
        <p:nvPicPr>
          <p:cNvPr id="18" name="Picture 17"/>
          <p:cNvPicPr/>
          <p:nvPr/>
        </p:nvPicPr>
        <p:blipFill>
          <a:blip r:embed="rId2"/>
          <a:stretch>
            <a:fillRect/>
          </a:stretch>
        </p:blipFill>
        <p:spPr>
          <a:xfrm>
            <a:off x="3997353" y="3911684"/>
            <a:ext cx="4129216" cy="27338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927364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868914"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4.SOUND SENSOR </a:t>
            </a:r>
            <a:endParaRPr lang="en-US" sz="5400" b="1" dirty="0">
              <a:solidFill>
                <a:schemeClr val="bg1"/>
              </a:solidFill>
              <a:latin typeface="Algerian" panose="04020705040A02060702" pitchFamily="82" charset="0"/>
              <a:cs typeface="Times New Roman" panose="02020603050405020304" pitchFamily="18" charset="0"/>
            </a:endParaRPr>
          </a:p>
        </p:txBody>
      </p:sp>
      <p:sp>
        <p:nvSpPr>
          <p:cNvPr id="3" name="Rectangle 2"/>
          <p:cNvSpPr/>
          <p:nvPr/>
        </p:nvSpPr>
        <p:spPr>
          <a:xfrm>
            <a:off x="343434" y="923330"/>
            <a:ext cx="11642501" cy="2185214"/>
          </a:xfrm>
          <a:prstGeom prst="rect">
            <a:avLst/>
          </a:prstGeom>
        </p:spPr>
        <p:txBody>
          <a:bodyPr wrap="square">
            <a:spAutoFit/>
          </a:bodyPr>
          <a:lstStyle/>
          <a:p>
            <a:pPr marL="285750" indent="-285750">
              <a:buFont typeface="Wingdings" panose="05000000000000000000" pitchFamily="2" charset="2"/>
              <a:buChar char="v"/>
            </a:pPr>
            <a:r>
              <a:rPr lang="en-US" sz="3400" dirty="0">
                <a:latin typeface="Times New Roman" panose="02020603050405020304" pitchFamily="18" charset="0"/>
                <a:ea typeface="Cambria" panose="02040503050406030204" pitchFamily="18" charset="0"/>
                <a:cs typeface="Times New Roman" panose="02020603050405020304" pitchFamily="18" charset="0"/>
              </a:rPr>
              <a:t>A sound sensor is defined as a module that detects sound waves through its intensity and converts them to electrical </a:t>
            </a:r>
            <a:r>
              <a:rPr lang="en-US" sz="3400" dirty="0" smtClean="0">
                <a:latin typeface="Times New Roman" panose="02020603050405020304" pitchFamily="18" charset="0"/>
                <a:ea typeface="Cambria" panose="02040503050406030204" pitchFamily="18" charset="0"/>
                <a:cs typeface="Times New Roman" panose="02020603050405020304" pitchFamily="18" charset="0"/>
              </a:rPr>
              <a:t>signals.</a:t>
            </a:r>
          </a:p>
          <a:p>
            <a:pPr marL="285750" indent="-285750">
              <a:buFont typeface="Wingdings" panose="05000000000000000000" pitchFamily="2" charset="2"/>
              <a:buChar char="v"/>
            </a:pPr>
            <a:r>
              <a:rPr lang="en-US" sz="3400" dirty="0" smtClean="0">
                <a:latin typeface="Times New Roman" panose="02020603050405020304" pitchFamily="18" charset="0"/>
                <a:ea typeface="Cambria" panose="02040503050406030204" pitchFamily="18" charset="0"/>
                <a:cs typeface="Times New Roman" panose="02020603050405020304" pitchFamily="18" charset="0"/>
              </a:rPr>
              <a:t>Sound </a:t>
            </a:r>
            <a:r>
              <a:rPr lang="en-US" sz="3400" dirty="0">
                <a:latin typeface="Times New Roman" panose="02020603050405020304" pitchFamily="18" charset="0"/>
                <a:ea typeface="Cambria" panose="02040503050406030204" pitchFamily="18" charset="0"/>
                <a:cs typeface="Times New Roman" panose="02020603050405020304" pitchFamily="18" charset="0"/>
              </a:rPr>
              <a:t>detection sensor works similarly to our Ears, having a diaphragm which </a:t>
            </a:r>
            <a:r>
              <a:rPr lang="en-US" sz="3400" dirty="0" smtClean="0">
                <a:latin typeface="Times New Roman" panose="02020603050405020304" pitchFamily="18" charset="0"/>
                <a:ea typeface="Cambria" panose="02040503050406030204" pitchFamily="18" charset="0"/>
                <a:cs typeface="Times New Roman" panose="02020603050405020304" pitchFamily="18" charset="0"/>
              </a:rPr>
              <a:t>con-</a:t>
            </a:r>
            <a:r>
              <a:rPr lang="en-US" sz="3400" dirty="0" err="1" smtClean="0">
                <a:latin typeface="Times New Roman" panose="02020603050405020304" pitchFamily="18" charset="0"/>
                <a:ea typeface="Cambria" panose="02040503050406030204" pitchFamily="18" charset="0"/>
                <a:cs typeface="Times New Roman" panose="02020603050405020304" pitchFamily="18" charset="0"/>
              </a:rPr>
              <a:t>verts</a:t>
            </a:r>
            <a:r>
              <a:rPr lang="en-US" sz="3400" dirty="0" smtClean="0">
                <a:latin typeface="Times New Roman" panose="02020603050405020304" pitchFamily="18" charset="0"/>
                <a:ea typeface="Cambria" panose="02040503050406030204" pitchFamily="18" charset="0"/>
                <a:cs typeface="Times New Roman" panose="02020603050405020304" pitchFamily="18" charset="0"/>
              </a:rPr>
              <a:t> vibration </a:t>
            </a:r>
            <a:r>
              <a:rPr lang="en-US" sz="3400" dirty="0">
                <a:latin typeface="Times New Roman" panose="02020603050405020304" pitchFamily="18" charset="0"/>
                <a:ea typeface="Cambria" panose="02040503050406030204" pitchFamily="18" charset="0"/>
                <a:cs typeface="Times New Roman" panose="02020603050405020304" pitchFamily="18" charset="0"/>
              </a:rPr>
              <a:t>into signals.</a:t>
            </a:r>
            <a:endParaRPr lang="en-US" sz="3400" dirty="0">
              <a:latin typeface="Times New Roman" panose="02020603050405020304" pitchFamily="18" charset="0"/>
              <a:cs typeface="Times New Roman" panose="02020603050405020304" pitchFamily="18" charset="0"/>
            </a:endParaRPr>
          </a:p>
        </p:txBody>
      </p:sp>
      <p:grpSp>
        <p:nvGrpSpPr>
          <p:cNvPr id="4" name="Group 3"/>
          <p:cNvGrpSpPr/>
          <p:nvPr/>
        </p:nvGrpSpPr>
        <p:grpSpPr>
          <a:xfrm>
            <a:off x="3121649" y="3298100"/>
            <a:ext cx="5043557" cy="3559899"/>
            <a:chOff x="0" y="0"/>
            <a:chExt cx="1476048" cy="1205224"/>
          </a:xfrm>
        </p:grpSpPr>
        <p:pic>
          <p:nvPicPr>
            <p:cNvPr id="5" name="Picture 4"/>
            <p:cNvPicPr/>
            <p:nvPr/>
          </p:nvPicPr>
          <p:blipFill>
            <a:blip r:embed="rId2"/>
            <a:stretch>
              <a:fillRect/>
            </a:stretch>
          </p:blipFill>
          <p:spPr>
            <a:xfrm>
              <a:off x="24384" y="24384"/>
              <a:ext cx="1389380" cy="1086485"/>
            </a:xfrm>
            <a:prstGeom prst="rect">
              <a:avLst/>
            </a:prstGeom>
          </p:spPr>
        </p:pic>
        <p:sp>
          <p:nvSpPr>
            <p:cNvPr id="6" name="Shape 5703"/>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7" name="Shape 5704"/>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8" name="Shape 5705"/>
            <p:cNvSpPr/>
            <p:nvPr/>
          </p:nvSpPr>
          <p:spPr>
            <a:xfrm>
              <a:off x="24384" y="0"/>
              <a:ext cx="1390142" cy="24384"/>
            </a:xfrm>
            <a:custGeom>
              <a:avLst/>
              <a:gdLst/>
              <a:ahLst/>
              <a:cxnLst/>
              <a:rect l="0" t="0" r="0" b="0"/>
              <a:pathLst>
                <a:path w="1390142" h="24384">
                  <a:moveTo>
                    <a:pt x="0" y="0"/>
                  </a:moveTo>
                  <a:lnTo>
                    <a:pt x="1390142" y="0"/>
                  </a:lnTo>
                  <a:lnTo>
                    <a:pt x="1390142"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9" name="Shape 5706"/>
            <p:cNvSpPr/>
            <p:nvPr/>
          </p:nvSpPr>
          <p:spPr>
            <a:xfrm>
              <a:off x="1414653"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0" name="Shape 5707"/>
            <p:cNvSpPr/>
            <p:nvPr/>
          </p:nvSpPr>
          <p:spPr>
            <a:xfrm>
              <a:off x="1414653"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1" name="Shape 5708"/>
            <p:cNvSpPr/>
            <p:nvPr/>
          </p:nvSpPr>
          <p:spPr>
            <a:xfrm>
              <a:off x="0" y="24384"/>
              <a:ext cx="24384" cy="1086612"/>
            </a:xfrm>
            <a:custGeom>
              <a:avLst/>
              <a:gdLst/>
              <a:ahLst/>
              <a:cxnLst/>
              <a:rect l="0" t="0" r="0" b="0"/>
              <a:pathLst>
                <a:path w="24384" h="1086612">
                  <a:moveTo>
                    <a:pt x="0" y="0"/>
                  </a:moveTo>
                  <a:lnTo>
                    <a:pt x="24384" y="0"/>
                  </a:lnTo>
                  <a:lnTo>
                    <a:pt x="24384" y="1086612"/>
                  </a:lnTo>
                  <a:lnTo>
                    <a:pt x="0" y="108661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2" name="Shape 5709"/>
            <p:cNvSpPr/>
            <p:nvPr/>
          </p:nvSpPr>
          <p:spPr>
            <a:xfrm>
              <a:off x="1414653" y="24384"/>
              <a:ext cx="24384" cy="1086612"/>
            </a:xfrm>
            <a:custGeom>
              <a:avLst/>
              <a:gdLst/>
              <a:ahLst/>
              <a:cxnLst/>
              <a:rect l="0" t="0" r="0" b="0"/>
              <a:pathLst>
                <a:path w="24384" h="1086612">
                  <a:moveTo>
                    <a:pt x="0" y="0"/>
                  </a:moveTo>
                  <a:lnTo>
                    <a:pt x="24384" y="0"/>
                  </a:lnTo>
                  <a:lnTo>
                    <a:pt x="24384" y="1086612"/>
                  </a:lnTo>
                  <a:lnTo>
                    <a:pt x="0" y="108661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3" name="Shape 5710"/>
            <p:cNvSpPr/>
            <p:nvPr/>
          </p:nvSpPr>
          <p:spPr>
            <a:xfrm>
              <a:off x="0" y="11109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4" name="Shape 5711"/>
            <p:cNvSpPr/>
            <p:nvPr/>
          </p:nvSpPr>
          <p:spPr>
            <a:xfrm>
              <a:off x="0" y="11109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5" name="Shape 5712"/>
            <p:cNvSpPr/>
            <p:nvPr/>
          </p:nvSpPr>
          <p:spPr>
            <a:xfrm>
              <a:off x="24384" y="1110996"/>
              <a:ext cx="1390142" cy="24384"/>
            </a:xfrm>
            <a:custGeom>
              <a:avLst/>
              <a:gdLst/>
              <a:ahLst/>
              <a:cxnLst/>
              <a:rect l="0" t="0" r="0" b="0"/>
              <a:pathLst>
                <a:path w="1390142" h="24384">
                  <a:moveTo>
                    <a:pt x="0" y="0"/>
                  </a:moveTo>
                  <a:lnTo>
                    <a:pt x="1390142" y="0"/>
                  </a:lnTo>
                  <a:lnTo>
                    <a:pt x="1390142"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6" name="Shape 5713"/>
            <p:cNvSpPr/>
            <p:nvPr/>
          </p:nvSpPr>
          <p:spPr>
            <a:xfrm>
              <a:off x="1414653" y="11109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7" name="Shape 5714"/>
            <p:cNvSpPr/>
            <p:nvPr/>
          </p:nvSpPr>
          <p:spPr>
            <a:xfrm>
              <a:off x="1414653" y="11109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8" name="Rectangle 17"/>
            <p:cNvSpPr/>
            <p:nvPr/>
          </p:nvSpPr>
          <p:spPr>
            <a:xfrm>
              <a:off x="1439037" y="1036990"/>
              <a:ext cx="37011" cy="168234"/>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p>
          </p:txBody>
        </p:sp>
      </p:grpSp>
    </p:spTree>
    <p:extLst>
      <p:ext uri="{BB962C8B-B14F-4D97-AF65-F5344CB8AC3E}">
        <p14:creationId xmlns:p14="http://schemas.microsoft.com/office/powerpoint/2010/main" val="40902584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9" y="0"/>
            <a:ext cx="5990743"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5.MQ135 SENSOR </a:t>
            </a:r>
            <a:endParaRPr lang="en-US" sz="5400" b="1" dirty="0">
              <a:solidFill>
                <a:schemeClr val="bg1"/>
              </a:solidFill>
              <a:latin typeface="Algerian" panose="04020705040A02060702" pitchFamily="82" charset="0"/>
            </a:endParaRPr>
          </a:p>
        </p:txBody>
      </p:sp>
      <p:sp>
        <p:nvSpPr>
          <p:cNvPr id="3" name="Rectangle 2"/>
          <p:cNvSpPr/>
          <p:nvPr/>
        </p:nvSpPr>
        <p:spPr>
          <a:xfrm>
            <a:off x="356233" y="807419"/>
            <a:ext cx="10805375" cy="2708434"/>
          </a:xfrm>
          <a:prstGeom prst="rect">
            <a:avLst/>
          </a:prstGeom>
        </p:spPr>
        <p:txBody>
          <a:bodyPr wrap="square">
            <a:spAutoFit/>
          </a:bodyPr>
          <a:lstStyle/>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a:t>
            </a:r>
            <a:r>
              <a:rPr lang="en-US" sz="3400" dirty="0">
                <a:latin typeface="Times New Roman" panose="02020603050405020304" pitchFamily="18" charset="0"/>
                <a:cs typeface="Times New Roman" panose="02020603050405020304" pitchFamily="18" charset="0"/>
              </a:rPr>
              <a:t>MQ series of gas devices utilize a touch heater inside with associate natural science detector. These sensors square measure sensitive to a spread of gases used at temperature. MQ135 alcohol device is also a Sno2 with a lower natural phenomenon of contemporary air. </a:t>
            </a:r>
          </a:p>
        </p:txBody>
      </p:sp>
      <p:grpSp>
        <p:nvGrpSpPr>
          <p:cNvPr id="4" name="Group 3"/>
          <p:cNvGrpSpPr/>
          <p:nvPr/>
        </p:nvGrpSpPr>
        <p:grpSpPr>
          <a:xfrm>
            <a:off x="3934059" y="3648727"/>
            <a:ext cx="3960690" cy="3209273"/>
            <a:chOff x="0" y="0"/>
            <a:chExt cx="1078284" cy="1250944"/>
          </a:xfrm>
        </p:grpSpPr>
        <p:pic>
          <p:nvPicPr>
            <p:cNvPr id="5" name="Picture 4"/>
            <p:cNvPicPr/>
            <p:nvPr/>
          </p:nvPicPr>
          <p:blipFill>
            <a:blip r:embed="rId2"/>
            <a:stretch>
              <a:fillRect/>
            </a:stretch>
          </p:blipFill>
          <p:spPr>
            <a:xfrm>
              <a:off x="24384" y="23494"/>
              <a:ext cx="991870" cy="1132840"/>
            </a:xfrm>
            <a:prstGeom prst="rect">
              <a:avLst/>
            </a:prstGeom>
          </p:spPr>
        </p:pic>
        <p:sp>
          <p:nvSpPr>
            <p:cNvPr id="6" name="Shape 5715"/>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7" name="Shape 5716"/>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8" name="Shape 5717"/>
            <p:cNvSpPr/>
            <p:nvPr/>
          </p:nvSpPr>
          <p:spPr>
            <a:xfrm>
              <a:off x="24384" y="0"/>
              <a:ext cx="992429" cy="24384"/>
            </a:xfrm>
            <a:custGeom>
              <a:avLst/>
              <a:gdLst/>
              <a:ahLst/>
              <a:cxnLst/>
              <a:rect l="0" t="0" r="0" b="0"/>
              <a:pathLst>
                <a:path w="992429" h="24384">
                  <a:moveTo>
                    <a:pt x="0" y="0"/>
                  </a:moveTo>
                  <a:lnTo>
                    <a:pt x="992429" y="0"/>
                  </a:lnTo>
                  <a:lnTo>
                    <a:pt x="992429"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9" name="Shape 5718"/>
            <p:cNvSpPr/>
            <p:nvPr/>
          </p:nvSpPr>
          <p:spPr>
            <a:xfrm>
              <a:off x="1016889"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0" name="Shape 5719"/>
            <p:cNvSpPr/>
            <p:nvPr/>
          </p:nvSpPr>
          <p:spPr>
            <a:xfrm>
              <a:off x="1016889"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1" name="Shape 5720"/>
            <p:cNvSpPr/>
            <p:nvPr/>
          </p:nvSpPr>
          <p:spPr>
            <a:xfrm>
              <a:off x="0" y="24384"/>
              <a:ext cx="24384" cy="1132332"/>
            </a:xfrm>
            <a:custGeom>
              <a:avLst/>
              <a:gdLst/>
              <a:ahLst/>
              <a:cxnLst/>
              <a:rect l="0" t="0" r="0" b="0"/>
              <a:pathLst>
                <a:path w="24384" h="1132332">
                  <a:moveTo>
                    <a:pt x="0" y="0"/>
                  </a:moveTo>
                  <a:lnTo>
                    <a:pt x="24384" y="0"/>
                  </a:lnTo>
                  <a:lnTo>
                    <a:pt x="24384" y="1132332"/>
                  </a:lnTo>
                  <a:lnTo>
                    <a:pt x="0" y="113233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2" name="Shape 5721"/>
            <p:cNvSpPr/>
            <p:nvPr/>
          </p:nvSpPr>
          <p:spPr>
            <a:xfrm>
              <a:off x="1016889" y="24384"/>
              <a:ext cx="24384" cy="1132332"/>
            </a:xfrm>
            <a:custGeom>
              <a:avLst/>
              <a:gdLst/>
              <a:ahLst/>
              <a:cxnLst/>
              <a:rect l="0" t="0" r="0" b="0"/>
              <a:pathLst>
                <a:path w="24384" h="1132332">
                  <a:moveTo>
                    <a:pt x="0" y="0"/>
                  </a:moveTo>
                  <a:lnTo>
                    <a:pt x="24384" y="0"/>
                  </a:lnTo>
                  <a:lnTo>
                    <a:pt x="24384" y="1132332"/>
                  </a:lnTo>
                  <a:lnTo>
                    <a:pt x="0" y="113233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3" name="Shape 5722"/>
            <p:cNvSpPr/>
            <p:nvPr/>
          </p:nvSpPr>
          <p:spPr>
            <a:xfrm>
              <a:off x="0" y="1156715"/>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4" name="Shape 5723"/>
            <p:cNvSpPr/>
            <p:nvPr/>
          </p:nvSpPr>
          <p:spPr>
            <a:xfrm>
              <a:off x="0" y="1156715"/>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5" name="Shape 5724"/>
            <p:cNvSpPr/>
            <p:nvPr/>
          </p:nvSpPr>
          <p:spPr>
            <a:xfrm>
              <a:off x="24384" y="1156715"/>
              <a:ext cx="992429" cy="24384"/>
            </a:xfrm>
            <a:custGeom>
              <a:avLst/>
              <a:gdLst/>
              <a:ahLst/>
              <a:cxnLst/>
              <a:rect l="0" t="0" r="0" b="0"/>
              <a:pathLst>
                <a:path w="992429" h="24384">
                  <a:moveTo>
                    <a:pt x="0" y="0"/>
                  </a:moveTo>
                  <a:lnTo>
                    <a:pt x="992429" y="0"/>
                  </a:lnTo>
                  <a:lnTo>
                    <a:pt x="992429"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6" name="Shape 5725"/>
            <p:cNvSpPr/>
            <p:nvPr/>
          </p:nvSpPr>
          <p:spPr>
            <a:xfrm>
              <a:off x="1016889" y="1156715"/>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7" name="Shape 5726"/>
            <p:cNvSpPr/>
            <p:nvPr/>
          </p:nvSpPr>
          <p:spPr>
            <a:xfrm>
              <a:off x="1016889" y="1156715"/>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8" name="Rectangle 17"/>
            <p:cNvSpPr/>
            <p:nvPr/>
          </p:nvSpPr>
          <p:spPr>
            <a:xfrm>
              <a:off x="1041273" y="1082710"/>
              <a:ext cx="37011" cy="168234"/>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p>
          </p:txBody>
        </p:sp>
      </p:grpSp>
    </p:spTree>
    <p:extLst>
      <p:ext uri="{BB962C8B-B14F-4D97-AF65-F5344CB8AC3E}">
        <p14:creationId xmlns:p14="http://schemas.microsoft.com/office/powerpoint/2010/main" val="10603974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879"/>
            <a:ext cx="3586238" cy="923330"/>
          </a:xfrm>
          <a:prstGeom prst="rect">
            <a:avLst/>
          </a:prstGeom>
        </p:spPr>
        <p:txBody>
          <a:bodyPr wrap="none">
            <a:spAutoFit/>
          </a:bodyPr>
          <a:lstStyle/>
          <a:p>
            <a:r>
              <a:rPr lang="en-US" sz="5400" b="1" dirty="0" smtClean="0">
                <a:solidFill>
                  <a:schemeClr val="bg1"/>
                </a:solidFill>
                <a:latin typeface="Algerian" panose="04020705040A02060702" pitchFamily="82" charset="0"/>
                <a:cs typeface="Times New Roman" panose="02020603050405020304" pitchFamily="18" charset="0"/>
              </a:rPr>
              <a:t>6.BUZZER </a:t>
            </a:r>
            <a:endParaRPr lang="en-US" sz="5400" b="1" dirty="0">
              <a:solidFill>
                <a:schemeClr val="bg1"/>
              </a:solidFill>
              <a:latin typeface="Algerian" panose="04020705040A02060702" pitchFamily="82" charset="0"/>
              <a:cs typeface="Times New Roman" panose="02020603050405020304" pitchFamily="18" charset="0"/>
            </a:endParaRPr>
          </a:p>
        </p:txBody>
      </p:sp>
      <p:sp>
        <p:nvSpPr>
          <p:cNvPr id="3" name="Rectangle 2"/>
          <p:cNvSpPr/>
          <p:nvPr/>
        </p:nvSpPr>
        <p:spPr>
          <a:xfrm>
            <a:off x="382073" y="833177"/>
            <a:ext cx="11410682" cy="2985433"/>
          </a:xfrm>
          <a:prstGeom prst="rect">
            <a:avLst/>
          </a:prstGeom>
        </p:spPr>
        <p:txBody>
          <a:bodyPr wrap="square">
            <a:spAutoFit/>
          </a:bodyPr>
          <a:lstStyle/>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The buzzer could be a sounding device that may convert audio signals into sound signals. it's sometimes power driven by DC voltage.</a:t>
            </a:r>
          </a:p>
          <a:p>
            <a:pPr marL="457200" indent="-457200">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it's wide utilized in alarms, computers, printers and alternative electronic merchandise as sound devices.</a:t>
            </a:r>
            <a:r>
              <a:rPr lang="en-US" dirty="0" smtClean="0"/>
              <a:t> </a:t>
            </a:r>
            <a:endParaRPr lang="en-US" dirty="0"/>
          </a:p>
          <a:p>
            <a:r>
              <a:rPr lang="en-US" dirty="0"/>
              <a:t> </a:t>
            </a:r>
          </a:p>
        </p:txBody>
      </p:sp>
      <p:grpSp>
        <p:nvGrpSpPr>
          <p:cNvPr id="5" name="Group 4"/>
          <p:cNvGrpSpPr/>
          <p:nvPr/>
        </p:nvGrpSpPr>
        <p:grpSpPr>
          <a:xfrm>
            <a:off x="4113682" y="3818610"/>
            <a:ext cx="4206070" cy="2942798"/>
            <a:chOff x="0" y="0"/>
            <a:chExt cx="1218145" cy="1265634"/>
          </a:xfrm>
        </p:grpSpPr>
        <p:pic>
          <p:nvPicPr>
            <p:cNvPr id="6" name="Picture 5"/>
            <p:cNvPicPr/>
            <p:nvPr/>
          </p:nvPicPr>
          <p:blipFill>
            <a:blip r:embed="rId2"/>
            <a:stretch>
              <a:fillRect/>
            </a:stretch>
          </p:blipFill>
          <p:spPr>
            <a:xfrm>
              <a:off x="23876" y="23749"/>
              <a:ext cx="1123315" cy="1124585"/>
            </a:xfrm>
            <a:prstGeom prst="rect">
              <a:avLst/>
            </a:prstGeom>
          </p:spPr>
        </p:pic>
        <p:sp>
          <p:nvSpPr>
            <p:cNvPr id="7" name="Shape 5727"/>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8" name="Shape 5728"/>
            <p:cNvSpPr/>
            <p:nvPr/>
          </p:nvSpPr>
          <p:spPr>
            <a:xfrm>
              <a:off x="0"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9" name="Shape 5729"/>
            <p:cNvSpPr/>
            <p:nvPr/>
          </p:nvSpPr>
          <p:spPr>
            <a:xfrm>
              <a:off x="24384" y="0"/>
              <a:ext cx="1123493" cy="24384"/>
            </a:xfrm>
            <a:custGeom>
              <a:avLst/>
              <a:gdLst/>
              <a:ahLst/>
              <a:cxnLst/>
              <a:rect l="0" t="0" r="0" b="0"/>
              <a:pathLst>
                <a:path w="1123493" h="24384">
                  <a:moveTo>
                    <a:pt x="0" y="0"/>
                  </a:moveTo>
                  <a:lnTo>
                    <a:pt x="1123493" y="0"/>
                  </a:lnTo>
                  <a:lnTo>
                    <a:pt x="1123493"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0" name="Shape 5730"/>
            <p:cNvSpPr/>
            <p:nvPr/>
          </p:nvSpPr>
          <p:spPr>
            <a:xfrm>
              <a:off x="1147953"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1" name="Shape 5731"/>
            <p:cNvSpPr/>
            <p:nvPr/>
          </p:nvSpPr>
          <p:spPr>
            <a:xfrm>
              <a:off x="1147953" y="0"/>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2" name="Shape 5732"/>
            <p:cNvSpPr/>
            <p:nvPr/>
          </p:nvSpPr>
          <p:spPr>
            <a:xfrm>
              <a:off x="0" y="24384"/>
              <a:ext cx="24384" cy="1124712"/>
            </a:xfrm>
            <a:custGeom>
              <a:avLst/>
              <a:gdLst/>
              <a:ahLst/>
              <a:cxnLst/>
              <a:rect l="0" t="0" r="0" b="0"/>
              <a:pathLst>
                <a:path w="24384" h="1124712">
                  <a:moveTo>
                    <a:pt x="0" y="0"/>
                  </a:moveTo>
                  <a:lnTo>
                    <a:pt x="24384" y="0"/>
                  </a:lnTo>
                  <a:lnTo>
                    <a:pt x="24384" y="1124712"/>
                  </a:lnTo>
                  <a:lnTo>
                    <a:pt x="0" y="112471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3" name="Shape 5733"/>
            <p:cNvSpPr/>
            <p:nvPr/>
          </p:nvSpPr>
          <p:spPr>
            <a:xfrm>
              <a:off x="1147953" y="24384"/>
              <a:ext cx="24384" cy="1124712"/>
            </a:xfrm>
            <a:custGeom>
              <a:avLst/>
              <a:gdLst/>
              <a:ahLst/>
              <a:cxnLst/>
              <a:rect l="0" t="0" r="0" b="0"/>
              <a:pathLst>
                <a:path w="24384" h="1124712">
                  <a:moveTo>
                    <a:pt x="0" y="0"/>
                  </a:moveTo>
                  <a:lnTo>
                    <a:pt x="24384" y="0"/>
                  </a:lnTo>
                  <a:lnTo>
                    <a:pt x="24384" y="1124712"/>
                  </a:lnTo>
                  <a:lnTo>
                    <a:pt x="0" y="1124712"/>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4" name="Shape 5734"/>
            <p:cNvSpPr/>
            <p:nvPr/>
          </p:nvSpPr>
          <p:spPr>
            <a:xfrm>
              <a:off x="0" y="11490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5" name="Shape 5735"/>
            <p:cNvSpPr/>
            <p:nvPr/>
          </p:nvSpPr>
          <p:spPr>
            <a:xfrm>
              <a:off x="0" y="11490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6" name="Shape 5736"/>
            <p:cNvSpPr/>
            <p:nvPr/>
          </p:nvSpPr>
          <p:spPr>
            <a:xfrm>
              <a:off x="24384" y="1149096"/>
              <a:ext cx="1123493" cy="24384"/>
            </a:xfrm>
            <a:custGeom>
              <a:avLst/>
              <a:gdLst/>
              <a:ahLst/>
              <a:cxnLst/>
              <a:rect l="0" t="0" r="0" b="0"/>
              <a:pathLst>
                <a:path w="1123493" h="24384">
                  <a:moveTo>
                    <a:pt x="0" y="0"/>
                  </a:moveTo>
                  <a:lnTo>
                    <a:pt x="1123493" y="0"/>
                  </a:lnTo>
                  <a:lnTo>
                    <a:pt x="1123493"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7" name="Shape 5737"/>
            <p:cNvSpPr/>
            <p:nvPr/>
          </p:nvSpPr>
          <p:spPr>
            <a:xfrm>
              <a:off x="1147953" y="11490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8" name="Shape 5738"/>
            <p:cNvSpPr/>
            <p:nvPr/>
          </p:nvSpPr>
          <p:spPr>
            <a:xfrm>
              <a:off x="1147953" y="1149096"/>
              <a:ext cx="24384" cy="24384"/>
            </a:xfrm>
            <a:custGeom>
              <a:avLst/>
              <a:gdLst/>
              <a:ahLst/>
              <a:cxnLst/>
              <a:rect l="0" t="0" r="0" b="0"/>
              <a:pathLst>
                <a:path w="24384" h="24384">
                  <a:moveTo>
                    <a:pt x="0" y="0"/>
                  </a:moveTo>
                  <a:lnTo>
                    <a:pt x="24384" y="0"/>
                  </a:lnTo>
                  <a:lnTo>
                    <a:pt x="24384" y="24384"/>
                  </a:lnTo>
                  <a:lnTo>
                    <a:pt x="0" y="24384"/>
                  </a:lnTo>
                  <a:lnTo>
                    <a:pt x="0" y="0"/>
                  </a:lnTo>
                </a:path>
              </a:pathLst>
            </a:custGeom>
            <a:ln w="0" cap="rnd">
              <a:round/>
            </a:ln>
          </p:spPr>
          <p:style>
            <a:lnRef idx="0">
              <a:srgbClr val="000000"/>
            </a:lnRef>
            <a:fillRef idx="1">
              <a:srgbClr val="202124"/>
            </a:fillRef>
            <a:effectRef idx="0">
              <a:scrgbClr r="0" g="0" b="0"/>
            </a:effectRef>
            <a:fontRef idx="none"/>
          </p:style>
          <p:txBody>
            <a:bodyPr/>
            <a:lstStyle/>
            <a:p>
              <a:endParaRPr lang="en-US"/>
            </a:p>
          </p:txBody>
        </p:sp>
        <p:sp>
          <p:nvSpPr>
            <p:cNvPr id="19" name="Rectangle 18"/>
            <p:cNvSpPr/>
            <p:nvPr/>
          </p:nvSpPr>
          <p:spPr>
            <a:xfrm>
              <a:off x="1172337" y="1059181"/>
              <a:ext cx="45808" cy="206453"/>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Cambria" panose="02040503050406030204" pitchFamily="18" charset="0"/>
                </a:rPr>
                <a:t> </a:t>
              </a:r>
              <a:endPar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p:txBody>
        </p:sp>
      </p:grpSp>
    </p:spTree>
    <p:extLst>
      <p:ext uri="{BB962C8B-B14F-4D97-AF65-F5344CB8AC3E}">
        <p14:creationId xmlns:p14="http://schemas.microsoft.com/office/powerpoint/2010/main" val="25302354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7274"/>
            <a:ext cx="3413114"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PROGRAM</a:t>
            </a:r>
          </a:p>
        </p:txBody>
      </p:sp>
      <p:sp>
        <p:nvSpPr>
          <p:cNvPr id="3" name="Rectangle 2"/>
          <p:cNvSpPr/>
          <p:nvPr/>
        </p:nvSpPr>
        <p:spPr>
          <a:xfrm>
            <a:off x="146168" y="682889"/>
            <a:ext cx="6344779" cy="1569660"/>
          </a:xfrm>
          <a:prstGeom prst="rect">
            <a:avLst/>
          </a:prstGeom>
        </p:spPr>
        <p:txBody>
          <a:bodyPr wrap="square">
            <a:spAutoFit/>
          </a:bodyPr>
          <a:lstStyle/>
          <a:p>
            <a:r>
              <a:rPr lang="en-US" sz="2400" dirty="0">
                <a:solidFill>
                  <a:srgbClr val="FF0000"/>
                </a:solidFill>
                <a:latin typeface="Söhne Mono"/>
              </a:rPr>
              <a:t>import</a:t>
            </a:r>
            <a:r>
              <a:rPr lang="en-US" sz="2400" dirty="0">
                <a:solidFill>
                  <a:srgbClr val="FFFFFF"/>
                </a:solidFill>
                <a:latin typeface="Söhne Mono"/>
              </a:rPr>
              <a:t> </a:t>
            </a:r>
            <a:r>
              <a:rPr lang="en-US" sz="2400" dirty="0" err="1">
                <a:solidFill>
                  <a:srgbClr val="FFFFFF"/>
                </a:solidFill>
                <a:latin typeface="Söhne Mono"/>
              </a:rPr>
              <a:t>sounddevice</a:t>
            </a:r>
            <a:r>
              <a:rPr lang="en-US" sz="2400" dirty="0">
                <a:solidFill>
                  <a:srgbClr val="FFFFFF"/>
                </a:solidFill>
                <a:latin typeface="Söhne Mono"/>
              </a:rPr>
              <a:t> </a:t>
            </a:r>
            <a:r>
              <a:rPr lang="en-US" sz="2400" dirty="0">
                <a:solidFill>
                  <a:srgbClr val="FF0000"/>
                </a:solidFill>
                <a:latin typeface="Söhne Mono"/>
              </a:rPr>
              <a:t>as</a:t>
            </a:r>
            <a:r>
              <a:rPr lang="en-US" sz="2400" dirty="0">
                <a:solidFill>
                  <a:srgbClr val="FFFFFF"/>
                </a:solidFill>
                <a:latin typeface="Söhne Mono"/>
              </a:rPr>
              <a:t> </a:t>
            </a:r>
            <a:r>
              <a:rPr lang="en-US" sz="2400" dirty="0" err="1" smtClean="0">
                <a:solidFill>
                  <a:srgbClr val="FFFFFF"/>
                </a:solidFill>
                <a:latin typeface="Söhne Mono"/>
              </a:rPr>
              <a:t>sd</a:t>
            </a:r>
            <a:r>
              <a:rPr lang="en-US" sz="2400" dirty="0" smtClean="0">
                <a:solidFill>
                  <a:srgbClr val="FFFFFF"/>
                </a:solidFill>
                <a:latin typeface="Söhne Mono"/>
              </a:rPr>
              <a:t> </a:t>
            </a:r>
          </a:p>
          <a:p>
            <a:r>
              <a:rPr lang="en-US" sz="2400" dirty="0" smtClean="0">
                <a:solidFill>
                  <a:srgbClr val="FF0000"/>
                </a:solidFill>
                <a:latin typeface="Söhne Mono"/>
              </a:rPr>
              <a:t>import</a:t>
            </a:r>
            <a:r>
              <a:rPr lang="en-US" sz="2400" dirty="0" smtClean="0">
                <a:solidFill>
                  <a:srgbClr val="FFFFFF"/>
                </a:solidFill>
                <a:latin typeface="Söhne Mono"/>
              </a:rPr>
              <a:t> </a:t>
            </a:r>
            <a:r>
              <a:rPr lang="en-US" sz="2400" dirty="0" err="1">
                <a:solidFill>
                  <a:srgbClr val="FFFFFF"/>
                </a:solidFill>
                <a:latin typeface="Söhne Mono"/>
              </a:rPr>
              <a:t>numpy</a:t>
            </a:r>
            <a:r>
              <a:rPr lang="en-US" sz="2400" dirty="0">
                <a:solidFill>
                  <a:srgbClr val="FFFFFF"/>
                </a:solidFill>
                <a:latin typeface="Söhne Mono"/>
              </a:rPr>
              <a:t> </a:t>
            </a:r>
            <a:r>
              <a:rPr lang="en-US" sz="2400" dirty="0">
                <a:solidFill>
                  <a:srgbClr val="FF0000"/>
                </a:solidFill>
                <a:latin typeface="Söhne Mono"/>
              </a:rPr>
              <a:t>as</a:t>
            </a:r>
            <a:r>
              <a:rPr lang="en-US" sz="2400" dirty="0">
                <a:solidFill>
                  <a:srgbClr val="FFFFFF"/>
                </a:solidFill>
                <a:latin typeface="Söhne Mono"/>
              </a:rPr>
              <a:t> </a:t>
            </a:r>
            <a:r>
              <a:rPr lang="en-US" sz="2400" dirty="0" err="1">
                <a:solidFill>
                  <a:srgbClr val="FFFFFF"/>
                </a:solidFill>
                <a:latin typeface="Söhne Mono"/>
              </a:rPr>
              <a:t>np</a:t>
            </a:r>
            <a:r>
              <a:rPr lang="en-US" sz="2400" dirty="0">
                <a:solidFill>
                  <a:srgbClr val="FFFFFF"/>
                </a:solidFill>
                <a:latin typeface="Söhne Mono"/>
              </a:rPr>
              <a:t> </a:t>
            </a:r>
            <a:endParaRPr lang="en-US" sz="2400" dirty="0" smtClean="0">
              <a:solidFill>
                <a:srgbClr val="FFFFFF"/>
              </a:solidFill>
              <a:latin typeface="Söhne Mono"/>
            </a:endParaRPr>
          </a:p>
          <a:p>
            <a:r>
              <a:rPr lang="en-US" sz="2400" dirty="0" smtClean="0">
                <a:solidFill>
                  <a:srgbClr val="FF0000"/>
                </a:solidFill>
                <a:latin typeface="Söhne Mono"/>
              </a:rPr>
              <a:t>import</a:t>
            </a:r>
            <a:r>
              <a:rPr lang="en-US" sz="2400" dirty="0" smtClean="0">
                <a:solidFill>
                  <a:srgbClr val="FFFFFF"/>
                </a:solidFill>
                <a:latin typeface="Söhne Mono"/>
              </a:rPr>
              <a:t> </a:t>
            </a:r>
            <a:r>
              <a:rPr lang="en-US" sz="2400" dirty="0">
                <a:solidFill>
                  <a:srgbClr val="FFFFFF"/>
                </a:solidFill>
                <a:latin typeface="Söhne Mono"/>
              </a:rPr>
              <a:t>time </a:t>
            </a:r>
            <a:endParaRPr lang="en-US" sz="2400" dirty="0" smtClean="0">
              <a:solidFill>
                <a:srgbClr val="FFFFFF"/>
              </a:solidFill>
              <a:latin typeface="Söhne Mono"/>
            </a:endParaRPr>
          </a:p>
          <a:p>
            <a:r>
              <a:rPr lang="en-US" sz="2400" dirty="0" smtClean="0">
                <a:solidFill>
                  <a:srgbClr val="FF0000"/>
                </a:solidFill>
                <a:latin typeface="Söhne Mono"/>
              </a:rPr>
              <a:t>import </a:t>
            </a:r>
            <a:r>
              <a:rPr lang="en-US" sz="2400" dirty="0" smtClean="0">
                <a:solidFill>
                  <a:srgbClr val="FFFFFF"/>
                </a:solidFill>
                <a:latin typeface="Söhne Mono"/>
              </a:rPr>
              <a:t>requests</a:t>
            </a:r>
          </a:p>
        </p:txBody>
      </p:sp>
      <p:sp>
        <p:nvSpPr>
          <p:cNvPr id="4" name="Rectangle 3"/>
          <p:cNvSpPr/>
          <p:nvPr/>
        </p:nvSpPr>
        <p:spPr>
          <a:xfrm>
            <a:off x="171927" y="2430775"/>
            <a:ext cx="8508431" cy="830997"/>
          </a:xfrm>
          <a:prstGeom prst="rect">
            <a:avLst/>
          </a:prstGeom>
        </p:spPr>
        <p:txBody>
          <a:bodyPr wrap="square">
            <a:spAutoFit/>
          </a:bodyPr>
          <a:lstStyle/>
          <a:p>
            <a:r>
              <a:rPr lang="en-US" sz="2400" dirty="0">
                <a:latin typeface="Söhne Mono"/>
              </a:rPr>
              <a:t># Replace with your server URL</a:t>
            </a:r>
            <a:r>
              <a:rPr lang="en-US" sz="2400" dirty="0">
                <a:solidFill>
                  <a:srgbClr val="FFFFFF"/>
                </a:solidFill>
                <a:latin typeface="Söhne Mono"/>
              </a:rPr>
              <a:t> </a:t>
            </a:r>
            <a:endParaRPr lang="en-US" sz="2400" dirty="0" smtClean="0">
              <a:solidFill>
                <a:srgbClr val="FFFFFF"/>
              </a:solidFill>
              <a:latin typeface="Söhne Mono"/>
            </a:endParaRPr>
          </a:p>
          <a:p>
            <a:r>
              <a:rPr lang="en-US" sz="2400" dirty="0" err="1" smtClean="0">
                <a:solidFill>
                  <a:srgbClr val="FFFFFF"/>
                </a:solidFill>
                <a:latin typeface="Söhne Mono"/>
              </a:rPr>
              <a:t>server_url</a:t>
            </a:r>
            <a:r>
              <a:rPr lang="en-US" sz="2400" dirty="0" smtClean="0">
                <a:solidFill>
                  <a:srgbClr val="FFFFFF"/>
                </a:solidFill>
                <a:latin typeface="Söhne Mono"/>
              </a:rPr>
              <a:t> = </a:t>
            </a:r>
            <a:r>
              <a:rPr lang="en-US" sz="2400" dirty="0" smtClean="0">
                <a:solidFill>
                  <a:srgbClr val="00FFFF"/>
                </a:solidFill>
                <a:latin typeface="Söhne Mono"/>
              </a:rPr>
              <a:t>"</a:t>
            </a:r>
            <a:r>
              <a:rPr lang="en-US" sz="2400" dirty="0">
                <a:solidFill>
                  <a:srgbClr val="00FFFF"/>
                </a:solidFill>
                <a:latin typeface="Söhne Mono"/>
              </a:rPr>
              <a:t>https://your-server.com/</a:t>
            </a:r>
            <a:r>
              <a:rPr lang="en-US" sz="2400" dirty="0" err="1">
                <a:solidFill>
                  <a:srgbClr val="00FFFF"/>
                </a:solidFill>
                <a:latin typeface="Söhne Mono"/>
              </a:rPr>
              <a:t>api</a:t>
            </a:r>
            <a:r>
              <a:rPr lang="en-US" sz="2400" dirty="0">
                <a:solidFill>
                  <a:srgbClr val="00FFFF"/>
                </a:solidFill>
                <a:latin typeface="Söhne Mono"/>
              </a:rPr>
              <a:t>/noise"</a:t>
            </a:r>
            <a:endParaRPr lang="en-US" sz="2400" dirty="0">
              <a:solidFill>
                <a:srgbClr val="00FFFF"/>
              </a:solidFill>
            </a:endParaRPr>
          </a:p>
        </p:txBody>
      </p:sp>
      <p:sp>
        <p:nvSpPr>
          <p:cNvPr id="5" name="Rectangle 4"/>
          <p:cNvSpPr/>
          <p:nvPr/>
        </p:nvSpPr>
        <p:spPr>
          <a:xfrm>
            <a:off x="197684" y="3400270"/>
            <a:ext cx="8057671" cy="1569660"/>
          </a:xfrm>
          <a:prstGeom prst="rect">
            <a:avLst/>
          </a:prstGeom>
        </p:spPr>
        <p:txBody>
          <a:bodyPr wrap="square">
            <a:spAutoFit/>
          </a:bodyPr>
          <a:lstStyle/>
          <a:p>
            <a:r>
              <a:rPr lang="en-US" sz="2400" dirty="0">
                <a:latin typeface="Söhne Mono"/>
              </a:rPr>
              <a:t># Parameters for audio recording</a:t>
            </a:r>
            <a:r>
              <a:rPr lang="en-US" sz="2400" dirty="0">
                <a:solidFill>
                  <a:srgbClr val="FFFFFF"/>
                </a:solidFill>
                <a:latin typeface="Söhne Mono"/>
              </a:rPr>
              <a:t> </a:t>
            </a:r>
            <a:endParaRPr lang="en-US" sz="2400" dirty="0" smtClean="0">
              <a:solidFill>
                <a:srgbClr val="FFFFFF"/>
              </a:solidFill>
              <a:latin typeface="Söhne Mono"/>
            </a:endParaRPr>
          </a:p>
          <a:p>
            <a:r>
              <a:rPr lang="en-US" sz="2400" dirty="0" err="1" smtClean="0">
                <a:solidFill>
                  <a:srgbClr val="FFFFFF"/>
                </a:solidFill>
                <a:latin typeface="Söhne Mono"/>
              </a:rPr>
              <a:t>sample_rate</a:t>
            </a:r>
            <a:r>
              <a:rPr lang="en-US" sz="2400" dirty="0" smtClean="0">
                <a:solidFill>
                  <a:srgbClr val="FFFFFF"/>
                </a:solidFill>
                <a:latin typeface="Söhne Mono"/>
              </a:rPr>
              <a:t> </a:t>
            </a:r>
            <a:r>
              <a:rPr lang="en-US" sz="2400" dirty="0">
                <a:solidFill>
                  <a:srgbClr val="FFFFFF"/>
                </a:solidFill>
                <a:latin typeface="Söhne Mono"/>
              </a:rPr>
              <a:t>= </a:t>
            </a:r>
            <a:r>
              <a:rPr lang="en-US" sz="2400" dirty="0">
                <a:solidFill>
                  <a:srgbClr val="DF3079"/>
                </a:solidFill>
                <a:latin typeface="Söhne Mono"/>
              </a:rPr>
              <a:t>44100</a:t>
            </a:r>
            <a:r>
              <a:rPr lang="en-US" sz="2400" dirty="0">
                <a:solidFill>
                  <a:srgbClr val="FFFFFF"/>
                </a:solidFill>
                <a:latin typeface="Söhne Mono"/>
              </a:rPr>
              <a:t> </a:t>
            </a:r>
            <a:r>
              <a:rPr lang="en-US" sz="2400" dirty="0">
                <a:latin typeface="Söhne Mono"/>
              </a:rPr>
              <a:t># Samples per second</a:t>
            </a:r>
            <a:r>
              <a:rPr lang="en-US" sz="2400" dirty="0">
                <a:solidFill>
                  <a:srgbClr val="FFFFFF"/>
                </a:solidFill>
                <a:latin typeface="Söhne Mono"/>
              </a:rPr>
              <a:t> </a:t>
            </a:r>
            <a:endParaRPr lang="en-US" sz="2400" dirty="0" smtClean="0">
              <a:solidFill>
                <a:srgbClr val="FFFFFF"/>
              </a:solidFill>
              <a:latin typeface="Söhne Mono"/>
            </a:endParaRPr>
          </a:p>
          <a:p>
            <a:r>
              <a:rPr lang="en-US" sz="2400" dirty="0" smtClean="0">
                <a:solidFill>
                  <a:srgbClr val="FFFFFF"/>
                </a:solidFill>
                <a:latin typeface="Söhne Mono"/>
              </a:rPr>
              <a:t>duration </a:t>
            </a:r>
            <a:r>
              <a:rPr lang="en-US" sz="2400" dirty="0">
                <a:solidFill>
                  <a:srgbClr val="FFFFFF"/>
                </a:solidFill>
                <a:latin typeface="Söhne Mono"/>
              </a:rPr>
              <a:t>= </a:t>
            </a:r>
            <a:r>
              <a:rPr lang="en-US" sz="2400" dirty="0">
                <a:solidFill>
                  <a:srgbClr val="DF3079"/>
                </a:solidFill>
                <a:latin typeface="Söhne Mono"/>
              </a:rPr>
              <a:t>10</a:t>
            </a:r>
            <a:r>
              <a:rPr lang="en-US" sz="2400" dirty="0">
                <a:solidFill>
                  <a:srgbClr val="FFFFFF"/>
                </a:solidFill>
                <a:latin typeface="Söhne Mono"/>
              </a:rPr>
              <a:t> </a:t>
            </a:r>
            <a:r>
              <a:rPr lang="en-US" sz="2400" dirty="0">
                <a:latin typeface="Söhne Mono"/>
              </a:rPr>
              <a:t># Duration of each recording in seconds</a:t>
            </a:r>
            <a:r>
              <a:rPr lang="en-US" sz="2400" dirty="0">
                <a:solidFill>
                  <a:srgbClr val="FFFFFF"/>
                </a:solidFill>
                <a:latin typeface="Söhne Mono"/>
              </a:rPr>
              <a:t> threshold = </a:t>
            </a:r>
            <a:r>
              <a:rPr lang="en-US" sz="2400" dirty="0">
                <a:solidFill>
                  <a:srgbClr val="DF3079"/>
                </a:solidFill>
                <a:latin typeface="Söhne Mono"/>
              </a:rPr>
              <a:t>0.05</a:t>
            </a:r>
            <a:r>
              <a:rPr lang="en-US" sz="2400" dirty="0">
                <a:solidFill>
                  <a:srgbClr val="FFFFFF"/>
                </a:solidFill>
                <a:latin typeface="Söhne Mono"/>
              </a:rPr>
              <a:t> </a:t>
            </a:r>
            <a:r>
              <a:rPr lang="en-US" sz="2400" dirty="0">
                <a:latin typeface="Söhne Mono"/>
              </a:rPr>
              <a:t># Adjust this value as needed</a:t>
            </a:r>
            <a:endParaRPr lang="en-US" sz="2400" dirty="0"/>
          </a:p>
        </p:txBody>
      </p:sp>
      <p:sp>
        <p:nvSpPr>
          <p:cNvPr id="6" name="Rectangle 5"/>
          <p:cNvSpPr/>
          <p:nvPr/>
        </p:nvSpPr>
        <p:spPr>
          <a:xfrm>
            <a:off x="168457" y="4967030"/>
            <a:ext cx="2767104" cy="461665"/>
          </a:xfrm>
          <a:prstGeom prst="rect">
            <a:avLst/>
          </a:prstGeom>
        </p:spPr>
        <p:txBody>
          <a:bodyPr wrap="none">
            <a:spAutoFit/>
          </a:bodyPr>
          <a:lstStyle/>
          <a:p>
            <a:r>
              <a:rPr lang="en-US" sz="2400" dirty="0" err="1">
                <a:solidFill>
                  <a:srgbClr val="00FF00"/>
                </a:solidFill>
                <a:latin typeface="Söhne Mono"/>
              </a:rPr>
              <a:t>def</a:t>
            </a:r>
            <a:r>
              <a:rPr lang="en-US" sz="2400" dirty="0">
                <a:solidFill>
                  <a:srgbClr val="FFFFFF"/>
                </a:solidFill>
                <a:latin typeface="Söhne Mono"/>
              </a:rPr>
              <a:t> </a:t>
            </a:r>
            <a:r>
              <a:rPr lang="en-US" sz="2400" dirty="0" err="1">
                <a:solidFill>
                  <a:srgbClr val="F22C3D"/>
                </a:solidFill>
                <a:latin typeface="Söhne Mono"/>
              </a:rPr>
              <a:t>record_audio</a:t>
            </a:r>
            <a:r>
              <a:rPr lang="en-US" sz="2400" dirty="0">
                <a:solidFill>
                  <a:srgbClr val="FFFFFF"/>
                </a:solidFill>
                <a:latin typeface="Söhne Mono"/>
              </a:rPr>
              <a:t>()</a:t>
            </a:r>
            <a:r>
              <a:rPr lang="en-US" dirty="0">
                <a:solidFill>
                  <a:srgbClr val="FFFFFF"/>
                </a:solidFill>
                <a:latin typeface="Söhne Mono"/>
              </a:rPr>
              <a:t>:</a:t>
            </a:r>
            <a:endParaRPr lang="en-US" dirty="0"/>
          </a:p>
        </p:txBody>
      </p:sp>
      <p:sp>
        <p:nvSpPr>
          <p:cNvPr id="8" name="Rectangle 7"/>
          <p:cNvSpPr/>
          <p:nvPr/>
        </p:nvSpPr>
        <p:spPr>
          <a:xfrm>
            <a:off x="476518" y="5474859"/>
            <a:ext cx="12119019" cy="1323439"/>
          </a:xfrm>
          <a:prstGeom prst="rect">
            <a:avLst/>
          </a:prstGeom>
        </p:spPr>
        <p:txBody>
          <a:bodyPr wrap="square">
            <a:spAutoFit/>
          </a:bodyPr>
          <a:lstStyle/>
          <a:p>
            <a:r>
              <a:rPr lang="en-US" sz="2000" dirty="0">
                <a:solidFill>
                  <a:srgbClr val="E9950C"/>
                </a:solidFill>
                <a:latin typeface="Söhne Mono"/>
              </a:rPr>
              <a:t>print</a:t>
            </a:r>
            <a:r>
              <a:rPr lang="en-US" sz="2000" dirty="0">
                <a:latin typeface="Söhne Mono"/>
              </a:rPr>
              <a:t>(</a:t>
            </a:r>
            <a:r>
              <a:rPr lang="en-US" sz="2000" dirty="0">
                <a:solidFill>
                  <a:srgbClr val="00FFFF"/>
                </a:solidFill>
                <a:latin typeface="Söhne Mono"/>
              </a:rPr>
              <a:t>"Recording audio</a:t>
            </a:r>
            <a:r>
              <a:rPr lang="en-US" sz="2000" dirty="0" smtClean="0">
                <a:solidFill>
                  <a:srgbClr val="00FFFF"/>
                </a:solidFill>
                <a:latin typeface="Söhne Mono"/>
              </a:rPr>
              <a:t>..."</a:t>
            </a:r>
            <a:r>
              <a:rPr lang="en-US" sz="2000" dirty="0" smtClean="0">
                <a:latin typeface="Söhne Mono"/>
              </a:rPr>
              <a:t>)</a:t>
            </a:r>
          </a:p>
          <a:p>
            <a:r>
              <a:rPr lang="en-US" sz="2000" dirty="0" err="1" smtClean="0">
                <a:solidFill>
                  <a:srgbClr val="FFFFFF"/>
                </a:solidFill>
                <a:latin typeface="Söhne Mono"/>
              </a:rPr>
              <a:t>audio_data</a:t>
            </a:r>
            <a:r>
              <a:rPr lang="en-US" sz="2000" dirty="0" smtClean="0">
                <a:solidFill>
                  <a:srgbClr val="FFFFFF"/>
                </a:solidFill>
                <a:latin typeface="Söhne Mono"/>
              </a:rPr>
              <a:t> </a:t>
            </a:r>
            <a:r>
              <a:rPr lang="en-US" sz="2000" dirty="0">
                <a:solidFill>
                  <a:srgbClr val="FFFFFF"/>
                </a:solidFill>
                <a:latin typeface="Söhne Mono"/>
              </a:rPr>
              <a:t>= </a:t>
            </a:r>
            <a:r>
              <a:rPr lang="en-US" sz="2000" dirty="0" err="1">
                <a:solidFill>
                  <a:srgbClr val="FFFFFF"/>
                </a:solidFill>
                <a:latin typeface="Söhne Mono"/>
              </a:rPr>
              <a:t>sd.rec</a:t>
            </a:r>
            <a:r>
              <a:rPr lang="en-US" sz="2000" dirty="0">
                <a:solidFill>
                  <a:srgbClr val="FFFFFF"/>
                </a:solidFill>
                <a:latin typeface="Söhne Mono"/>
              </a:rPr>
              <a:t>(</a:t>
            </a:r>
            <a:r>
              <a:rPr lang="en-US" sz="2000" dirty="0" err="1">
                <a:solidFill>
                  <a:srgbClr val="E9950C"/>
                </a:solidFill>
                <a:latin typeface="Söhne Mono"/>
              </a:rPr>
              <a:t>int</a:t>
            </a:r>
            <a:r>
              <a:rPr lang="en-US" sz="2000" dirty="0">
                <a:solidFill>
                  <a:srgbClr val="FFFFFF"/>
                </a:solidFill>
                <a:latin typeface="Söhne Mono"/>
              </a:rPr>
              <a:t>(duration * </a:t>
            </a:r>
            <a:r>
              <a:rPr lang="en-US" sz="2000" dirty="0" err="1">
                <a:solidFill>
                  <a:srgbClr val="FFFFFF"/>
                </a:solidFill>
                <a:latin typeface="Söhne Mono"/>
              </a:rPr>
              <a:t>sample_rate</a:t>
            </a:r>
            <a:r>
              <a:rPr lang="en-US" sz="2000" dirty="0">
                <a:solidFill>
                  <a:srgbClr val="FFFFFF"/>
                </a:solidFill>
                <a:latin typeface="Söhne Mono"/>
              </a:rPr>
              <a:t>), </a:t>
            </a:r>
            <a:r>
              <a:rPr lang="en-US" sz="2000" dirty="0" err="1">
                <a:solidFill>
                  <a:srgbClr val="FFFFFF"/>
                </a:solidFill>
                <a:latin typeface="Söhne Mono"/>
              </a:rPr>
              <a:t>samplerate</a:t>
            </a:r>
            <a:r>
              <a:rPr lang="en-US" sz="2000" dirty="0">
                <a:solidFill>
                  <a:srgbClr val="FFFFFF"/>
                </a:solidFill>
                <a:latin typeface="Söhne Mono"/>
              </a:rPr>
              <a:t>=</a:t>
            </a:r>
            <a:r>
              <a:rPr lang="en-US" sz="2000" dirty="0" err="1">
                <a:solidFill>
                  <a:srgbClr val="FFFFFF"/>
                </a:solidFill>
                <a:latin typeface="Söhne Mono"/>
              </a:rPr>
              <a:t>sample_rate</a:t>
            </a:r>
            <a:r>
              <a:rPr lang="en-US" sz="2000" dirty="0">
                <a:solidFill>
                  <a:srgbClr val="FFFFFF"/>
                </a:solidFill>
                <a:latin typeface="Söhne Mono"/>
              </a:rPr>
              <a:t>, channels=</a:t>
            </a:r>
            <a:r>
              <a:rPr lang="en-US" sz="2000" dirty="0">
                <a:solidFill>
                  <a:srgbClr val="DF3079"/>
                </a:solidFill>
                <a:latin typeface="Söhne Mono"/>
              </a:rPr>
              <a:t>2</a:t>
            </a:r>
            <a:r>
              <a:rPr lang="en-US" sz="2000" dirty="0">
                <a:solidFill>
                  <a:srgbClr val="FFFFFF"/>
                </a:solidFill>
                <a:latin typeface="Söhne Mono"/>
              </a:rPr>
              <a:t>, </a:t>
            </a:r>
            <a:r>
              <a:rPr lang="en-US" sz="2000" dirty="0" err="1">
                <a:solidFill>
                  <a:srgbClr val="FFFFFF"/>
                </a:solidFill>
                <a:latin typeface="Söhne Mono"/>
              </a:rPr>
              <a:t>dtype</a:t>
            </a:r>
            <a:r>
              <a:rPr lang="en-US" sz="2000" dirty="0">
                <a:solidFill>
                  <a:srgbClr val="FFFFFF"/>
                </a:solidFill>
                <a:latin typeface="Söhne Mono"/>
              </a:rPr>
              <a:t>=</a:t>
            </a:r>
            <a:r>
              <a:rPr lang="en-US" sz="2000" dirty="0">
                <a:solidFill>
                  <a:srgbClr val="00FFFF"/>
                </a:solidFill>
                <a:latin typeface="Söhne Mono"/>
              </a:rPr>
              <a:t>'int16'</a:t>
            </a:r>
            <a:r>
              <a:rPr lang="en-US" sz="2000" dirty="0">
                <a:solidFill>
                  <a:srgbClr val="FFFFFF"/>
                </a:solidFill>
                <a:latin typeface="Söhne Mono"/>
              </a:rPr>
              <a:t>) </a:t>
            </a:r>
            <a:r>
              <a:rPr lang="en-US" sz="2000" dirty="0" err="1">
                <a:solidFill>
                  <a:srgbClr val="FFFFFF"/>
                </a:solidFill>
                <a:latin typeface="Söhne Mono"/>
              </a:rPr>
              <a:t>sd.wait</a:t>
            </a:r>
            <a:r>
              <a:rPr lang="en-US" sz="2000" dirty="0" smtClean="0">
                <a:solidFill>
                  <a:srgbClr val="FFFFFF"/>
                </a:solidFill>
                <a:latin typeface="Söhne Mono"/>
              </a:rPr>
              <a:t>()</a:t>
            </a:r>
          </a:p>
          <a:p>
            <a:r>
              <a:rPr lang="en-US" sz="2000" dirty="0" smtClean="0">
                <a:solidFill>
                  <a:srgbClr val="FF0000"/>
                </a:solidFill>
                <a:latin typeface="Söhne Mono"/>
              </a:rPr>
              <a:t>return</a:t>
            </a:r>
            <a:r>
              <a:rPr lang="en-US" sz="2000" dirty="0" smtClean="0">
                <a:solidFill>
                  <a:srgbClr val="FFFFFF"/>
                </a:solidFill>
                <a:latin typeface="Söhne Mono"/>
              </a:rPr>
              <a:t> </a:t>
            </a:r>
            <a:r>
              <a:rPr lang="en-US" sz="2000" dirty="0" err="1">
                <a:solidFill>
                  <a:srgbClr val="FFFFFF"/>
                </a:solidFill>
                <a:latin typeface="Söhne Mono"/>
              </a:rPr>
              <a:t>audio_data</a:t>
            </a:r>
            <a:endParaRPr lang="en-US" sz="2000" dirty="0"/>
          </a:p>
        </p:txBody>
      </p:sp>
    </p:spTree>
    <p:extLst>
      <p:ext uri="{BB962C8B-B14F-4D97-AF65-F5344CB8AC3E}">
        <p14:creationId xmlns:p14="http://schemas.microsoft.com/office/powerpoint/2010/main" val="28665817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3" y="0"/>
            <a:ext cx="5445722" cy="461665"/>
          </a:xfrm>
          <a:prstGeom prst="rect">
            <a:avLst/>
          </a:prstGeom>
        </p:spPr>
        <p:txBody>
          <a:bodyPr wrap="none">
            <a:spAutoFit/>
          </a:bodyPr>
          <a:lstStyle/>
          <a:p>
            <a:r>
              <a:rPr lang="en-US" sz="2400" dirty="0" err="1">
                <a:solidFill>
                  <a:srgbClr val="00FF00"/>
                </a:solidFill>
                <a:latin typeface="Söhne Mono"/>
              </a:rPr>
              <a:t>def</a:t>
            </a:r>
            <a:r>
              <a:rPr lang="en-US" sz="2400" dirty="0">
                <a:solidFill>
                  <a:srgbClr val="FFFFFF"/>
                </a:solidFill>
                <a:latin typeface="Söhne Mono"/>
              </a:rPr>
              <a:t> </a:t>
            </a:r>
            <a:r>
              <a:rPr lang="en-US" sz="2400" dirty="0" err="1">
                <a:solidFill>
                  <a:srgbClr val="F22C3D"/>
                </a:solidFill>
                <a:latin typeface="Söhne Mono"/>
              </a:rPr>
              <a:t>calculate_noise_level</a:t>
            </a:r>
            <a:r>
              <a:rPr lang="en-US" sz="2400" dirty="0">
                <a:solidFill>
                  <a:srgbClr val="FFFFFF"/>
                </a:solidFill>
                <a:latin typeface="Söhne Mono"/>
              </a:rPr>
              <a:t>(</a:t>
            </a:r>
            <a:r>
              <a:rPr lang="en-US" sz="2400" dirty="0" err="1">
                <a:solidFill>
                  <a:srgbClr val="FFFFFF"/>
                </a:solidFill>
                <a:latin typeface="Söhne Mono"/>
              </a:rPr>
              <a:t>audio_data</a:t>
            </a:r>
            <a:r>
              <a:rPr lang="en-US" sz="2400" dirty="0">
                <a:solidFill>
                  <a:srgbClr val="FFFFFF"/>
                </a:solidFill>
                <a:latin typeface="Söhne Mono"/>
              </a:rPr>
              <a:t>):</a:t>
            </a:r>
            <a:endParaRPr lang="en-US" sz="2400" dirty="0"/>
          </a:p>
        </p:txBody>
      </p:sp>
      <p:sp>
        <p:nvSpPr>
          <p:cNvPr id="3" name="Rectangle 2"/>
          <p:cNvSpPr/>
          <p:nvPr/>
        </p:nvSpPr>
        <p:spPr>
          <a:xfrm>
            <a:off x="595837" y="461665"/>
            <a:ext cx="5535490" cy="830997"/>
          </a:xfrm>
          <a:prstGeom prst="rect">
            <a:avLst/>
          </a:prstGeom>
        </p:spPr>
        <p:txBody>
          <a:bodyPr wrap="none">
            <a:spAutoFit/>
          </a:bodyPr>
          <a:lstStyle/>
          <a:p>
            <a:r>
              <a:rPr lang="en-US" sz="2400" dirty="0" err="1">
                <a:solidFill>
                  <a:srgbClr val="FFFFFF"/>
                </a:solidFill>
                <a:latin typeface="Söhne Mono"/>
              </a:rPr>
              <a:t>rms</a:t>
            </a:r>
            <a:r>
              <a:rPr lang="en-US" sz="2400" dirty="0">
                <a:solidFill>
                  <a:srgbClr val="FFFFFF"/>
                </a:solidFill>
                <a:latin typeface="Söhne Mono"/>
              </a:rPr>
              <a:t> = </a:t>
            </a:r>
            <a:r>
              <a:rPr lang="en-US" sz="2400" dirty="0" err="1">
                <a:solidFill>
                  <a:srgbClr val="FFFFFF"/>
                </a:solidFill>
                <a:latin typeface="Söhne Mono"/>
              </a:rPr>
              <a:t>np.sqrt</a:t>
            </a:r>
            <a:r>
              <a:rPr lang="en-US" sz="2400" dirty="0">
                <a:solidFill>
                  <a:srgbClr val="FFFFFF"/>
                </a:solidFill>
                <a:latin typeface="Söhne Mono"/>
              </a:rPr>
              <a:t>(</a:t>
            </a:r>
            <a:r>
              <a:rPr lang="en-US" sz="2400" dirty="0" err="1">
                <a:solidFill>
                  <a:srgbClr val="FFFFFF"/>
                </a:solidFill>
                <a:latin typeface="Söhne Mono"/>
              </a:rPr>
              <a:t>np.mean</a:t>
            </a:r>
            <a:r>
              <a:rPr lang="en-US" sz="2400" dirty="0">
                <a:solidFill>
                  <a:srgbClr val="FFFFFF"/>
                </a:solidFill>
                <a:latin typeface="Söhne Mono"/>
              </a:rPr>
              <a:t>(</a:t>
            </a:r>
            <a:r>
              <a:rPr lang="en-US" sz="2400" dirty="0" err="1">
                <a:solidFill>
                  <a:srgbClr val="FFFFFF"/>
                </a:solidFill>
                <a:latin typeface="Söhne Mono"/>
              </a:rPr>
              <a:t>audio_data</a:t>
            </a:r>
            <a:r>
              <a:rPr lang="en-US" sz="2400" dirty="0">
                <a:solidFill>
                  <a:srgbClr val="FFFFFF"/>
                </a:solidFill>
                <a:latin typeface="Söhne Mono"/>
              </a:rPr>
              <a:t>**</a:t>
            </a:r>
            <a:r>
              <a:rPr lang="en-US" sz="2400" dirty="0">
                <a:solidFill>
                  <a:srgbClr val="DF3079"/>
                </a:solidFill>
                <a:latin typeface="Söhne Mono"/>
              </a:rPr>
              <a:t>2</a:t>
            </a:r>
            <a:r>
              <a:rPr lang="en-US" sz="2400" dirty="0" smtClean="0">
                <a:solidFill>
                  <a:srgbClr val="FFFFFF"/>
                </a:solidFill>
                <a:latin typeface="Söhne Mono"/>
              </a:rPr>
              <a:t>))</a:t>
            </a:r>
          </a:p>
          <a:p>
            <a:r>
              <a:rPr lang="en-US" sz="2400" dirty="0" smtClean="0">
                <a:solidFill>
                  <a:srgbClr val="FF0000"/>
                </a:solidFill>
                <a:latin typeface="Söhne Mono"/>
              </a:rPr>
              <a:t>return</a:t>
            </a:r>
            <a:r>
              <a:rPr lang="en-US" sz="2400" dirty="0" smtClean="0">
                <a:solidFill>
                  <a:srgbClr val="FFFFFF"/>
                </a:solidFill>
                <a:latin typeface="Söhne Mono"/>
              </a:rPr>
              <a:t> </a:t>
            </a:r>
            <a:r>
              <a:rPr lang="en-US" sz="2400" dirty="0" err="1">
                <a:solidFill>
                  <a:srgbClr val="FFFFFF"/>
                </a:solidFill>
                <a:latin typeface="Söhne Mono"/>
              </a:rPr>
              <a:t>rms</a:t>
            </a:r>
            <a:endParaRPr lang="en-US" sz="2400" dirty="0"/>
          </a:p>
        </p:txBody>
      </p:sp>
      <p:sp>
        <p:nvSpPr>
          <p:cNvPr id="4" name="Rectangle 3"/>
          <p:cNvSpPr/>
          <p:nvPr/>
        </p:nvSpPr>
        <p:spPr>
          <a:xfrm>
            <a:off x="109389" y="1292662"/>
            <a:ext cx="5426486" cy="461665"/>
          </a:xfrm>
          <a:prstGeom prst="rect">
            <a:avLst/>
          </a:prstGeom>
        </p:spPr>
        <p:txBody>
          <a:bodyPr wrap="none">
            <a:spAutoFit/>
          </a:bodyPr>
          <a:lstStyle/>
          <a:p>
            <a:r>
              <a:rPr lang="en-US" sz="2400" dirty="0" err="1">
                <a:solidFill>
                  <a:srgbClr val="00FF00"/>
                </a:solidFill>
                <a:latin typeface="Söhne Mono"/>
              </a:rPr>
              <a:t>def</a:t>
            </a:r>
            <a:r>
              <a:rPr lang="en-US" sz="2400" dirty="0">
                <a:solidFill>
                  <a:srgbClr val="FFFFFF"/>
                </a:solidFill>
                <a:latin typeface="Söhne Mono"/>
              </a:rPr>
              <a:t> </a:t>
            </a:r>
            <a:r>
              <a:rPr lang="en-US" sz="2400" dirty="0" err="1">
                <a:solidFill>
                  <a:srgbClr val="F22C3D"/>
                </a:solidFill>
                <a:latin typeface="Söhne Mono"/>
              </a:rPr>
              <a:t>send_data_to_server</a:t>
            </a:r>
            <a:r>
              <a:rPr lang="en-US" sz="2400" dirty="0">
                <a:solidFill>
                  <a:srgbClr val="FFFFFF"/>
                </a:solidFill>
                <a:latin typeface="Söhne Mono"/>
              </a:rPr>
              <a:t>(</a:t>
            </a:r>
            <a:r>
              <a:rPr lang="en-US" sz="2400" dirty="0" err="1">
                <a:solidFill>
                  <a:srgbClr val="FFFFFF"/>
                </a:solidFill>
                <a:latin typeface="Söhne Mono"/>
              </a:rPr>
              <a:t>noise_level</a:t>
            </a:r>
            <a:r>
              <a:rPr lang="en-US" sz="2400" dirty="0">
                <a:solidFill>
                  <a:srgbClr val="FFFFFF"/>
                </a:solidFill>
                <a:latin typeface="Söhne Mono"/>
              </a:rPr>
              <a:t>):</a:t>
            </a:r>
            <a:endParaRPr lang="en-US" sz="2400" dirty="0"/>
          </a:p>
        </p:txBody>
      </p:sp>
      <p:sp>
        <p:nvSpPr>
          <p:cNvPr id="5" name="Rectangle 4"/>
          <p:cNvSpPr/>
          <p:nvPr/>
        </p:nvSpPr>
        <p:spPr>
          <a:xfrm>
            <a:off x="595837" y="1754327"/>
            <a:ext cx="4814138" cy="461665"/>
          </a:xfrm>
          <a:prstGeom prst="rect">
            <a:avLst/>
          </a:prstGeom>
        </p:spPr>
        <p:txBody>
          <a:bodyPr wrap="none">
            <a:spAutoFit/>
          </a:bodyPr>
          <a:lstStyle/>
          <a:p>
            <a:r>
              <a:rPr lang="en-US" sz="2400" dirty="0">
                <a:solidFill>
                  <a:srgbClr val="FFFFFF"/>
                </a:solidFill>
                <a:latin typeface="Söhne Mono"/>
              </a:rPr>
              <a:t>data = </a:t>
            </a:r>
            <a:r>
              <a:rPr lang="en-US" sz="2400" dirty="0">
                <a:latin typeface="Söhne Mono"/>
              </a:rPr>
              <a:t>{</a:t>
            </a:r>
            <a:r>
              <a:rPr lang="en-US" sz="2400" dirty="0">
                <a:solidFill>
                  <a:srgbClr val="00FFFF"/>
                </a:solidFill>
                <a:latin typeface="Söhne Mono"/>
              </a:rPr>
              <a:t>"</a:t>
            </a:r>
            <a:r>
              <a:rPr lang="en-US" sz="2400" dirty="0" err="1">
                <a:solidFill>
                  <a:srgbClr val="00FFFF"/>
                </a:solidFill>
                <a:latin typeface="Söhne Mono"/>
              </a:rPr>
              <a:t>noise_level</a:t>
            </a:r>
            <a:r>
              <a:rPr lang="en-US" sz="2400" dirty="0">
                <a:solidFill>
                  <a:srgbClr val="00FFFF"/>
                </a:solidFill>
                <a:latin typeface="Söhne Mono"/>
              </a:rPr>
              <a:t>"</a:t>
            </a:r>
            <a:r>
              <a:rPr lang="en-US" sz="2400" dirty="0">
                <a:latin typeface="Söhne Mono"/>
              </a:rPr>
              <a:t>:</a:t>
            </a:r>
            <a:r>
              <a:rPr lang="en-US" sz="2400" dirty="0">
                <a:solidFill>
                  <a:srgbClr val="00FFFF"/>
                </a:solidFill>
                <a:latin typeface="Söhne Mono"/>
              </a:rPr>
              <a:t> </a:t>
            </a:r>
            <a:r>
              <a:rPr lang="en-US" sz="2400" dirty="0" err="1">
                <a:solidFill>
                  <a:srgbClr val="FFFFFF"/>
                </a:solidFill>
                <a:latin typeface="Söhne Mono"/>
              </a:rPr>
              <a:t>noise_level</a:t>
            </a:r>
            <a:r>
              <a:rPr lang="en-US" sz="2400" dirty="0">
                <a:solidFill>
                  <a:srgbClr val="FFFFFF"/>
                </a:solidFill>
                <a:latin typeface="Söhne Mono"/>
              </a:rPr>
              <a:t>}</a:t>
            </a:r>
            <a:endParaRPr lang="en-US" sz="2400" dirty="0"/>
          </a:p>
        </p:txBody>
      </p:sp>
      <p:sp>
        <p:nvSpPr>
          <p:cNvPr id="6" name="Rectangle 5"/>
          <p:cNvSpPr/>
          <p:nvPr/>
        </p:nvSpPr>
        <p:spPr>
          <a:xfrm>
            <a:off x="595837" y="2123659"/>
            <a:ext cx="611065" cy="461665"/>
          </a:xfrm>
          <a:prstGeom prst="rect">
            <a:avLst/>
          </a:prstGeom>
        </p:spPr>
        <p:txBody>
          <a:bodyPr wrap="none">
            <a:spAutoFit/>
          </a:bodyPr>
          <a:lstStyle/>
          <a:p>
            <a:r>
              <a:rPr lang="en-US" sz="2400" dirty="0">
                <a:solidFill>
                  <a:srgbClr val="00FF00"/>
                </a:solidFill>
                <a:latin typeface="Söhne Mono"/>
              </a:rPr>
              <a:t>try</a:t>
            </a:r>
            <a:r>
              <a:rPr lang="en-US" sz="2400" dirty="0">
                <a:solidFill>
                  <a:srgbClr val="FFFFFF"/>
                </a:solidFill>
                <a:latin typeface="Söhne Mono"/>
              </a:rPr>
              <a:t>:</a:t>
            </a:r>
            <a:endParaRPr lang="en-US" sz="2400" dirty="0"/>
          </a:p>
        </p:txBody>
      </p:sp>
      <p:sp>
        <p:nvSpPr>
          <p:cNvPr id="7" name="Rectangle 6"/>
          <p:cNvSpPr/>
          <p:nvPr/>
        </p:nvSpPr>
        <p:spPr>
          <a:xfrm>
            <a:off x="1026016" y="2677657"/>
            <a:ext cx="6933127" cy="830997"/>
          </a:xfrm>
          <a:prstGeom prst="rect">
            <a:avLst/>
          </a:prstGeom>
        </p:spPr>
        <p:txBody>
          <a:bodyPr wrap="square">
            <a:spAutoFit/>
          </a:bodyPr>
          <a:lstStyle/>
          <a:p>
            <a:r>
              <a:rPr lang="en-US" sz="2400" dirty="0">
                <a:solidFill>
                  <a:srgbClr val="FFFFFF"/>
                </a:solidFill>
                <a:latin typeface="Söhne Mono"/>
              </a:rPr>
              <a:t>response = </a:t>
            </a:r>
            <a:r>
              <a:rPr lang="en-US" sz="2400" dirty="0" err="1">
                <a:solidFill>
                  <a:srgbClr val="FFFFFF"/>
                </a:solidFill>
                <a:latin typeface="Söhne Mono"/>
              </a:rPr>
              <a:t>requests.post</a:t>
            </a:r>
            <a:r>
              <a:rPr lang="en-US" sz="2400" dirty="0">
                <a:solidFill>
                  <a:srgbClr val="FFFFFF"/>
                </a:solidFill>
                <a:latin typeface="Söhne Mono"/>
              </a:rPr>
              <a:t>(</a:t>
            </a:r>
            <a:r>
              <a:rPr lang="en-US" sz="2400" dirty="0" err="1">
                <a:solidFill>
                  <a:srgbClr val="FFFFFF"/>
                </a:solidFill>
                <a:latin typeface="Söhne Mono"/>
              </a:rPr>
              <a:t>server_url</a:t>
            </a:r>
            <a:r>
              <a:rPr lang="en-US" sz="2400" dirty="0">
                <a:solidFill>
                  <a:srgbClr val="FFFFFF"/>
                </a:solidFill>
                <a:latin typeface="Söhne Mono"/>
              </a:rPr>
              <a:t>, </a:t>
            </a:r>
            <a:r>
              <a:rPr lang="en-US" sz="2400" dirty="0" err="1" smtClean="0">
                <a:solidFill>
                  <a:srgbClr val="FFFFFF"/>
                </a:solidFill>
                <a:latin typeface="Söhne Mono"/>
              </a:rPr>
              <a:t>json</a:t>
            </a:r>
            <a:r>
              <a:rPr lang="en-US" sz="2400" dirty="0" smtClean="0">
                <a:solidFill>
                  <a:srgbClr val="FFFFFF"/>
                </a:solidFill>
                <a:latin typeface="Söhne Mono"/>
              </a:rPr>
              <a:t>=data)</a:t>
            </a:r>
          </a:p>
          <a:p>
            <a:r>
              <a:rPr lang="en-US" sz="2400" dirty="0" smtClean="0">
                <a:solidFill>
                  <a:srgbClr val="00FF00"/>
                </a:solidFill>
                <a:latin typeface="Söhne Mono"/>
              </a:rPr>
              <a:t>if </a:t>
            </a:r>
            <a:r>
              <a:rPr lang="en-US" sz="2400" dirty="0" err="1">
                <a:solidFill>
                  <a:srgbClr val="FFFFFF"/>
                </a:solidFill>
                <a:latin typeface="Söhne Mono"/>
              </a:rPr>
              <a:t>response.status_code</a:t>
            </a:r>
            <a:r>
              <a:rPr lang="en-US" sz="2400" dirty="0">
                <a:solidFill>
                  <a:srgbClr val="FFFFFF"/>
                </a:solidFill>
                <a:latin typeface="Söhne Mono"/>
              </a:rPr>
              <a:t> == </a:t>
            </a:r>
            <a:r>
              <a:rPr lang="en-US" sz="2400" dirty="0">
                <a:solidFill>
                  <a:srgbClr val="DF3079"/>
                </a:solidFill>
                <a:latin typeface="Söhne Mono"/>
              </a:rPr>
              <a:t>200</a:t>
            </a:r>
            <a:r>
              <a:rPr lang="en-US" sz="2400" dirty="0">
                <a:solidFill>
                  <a:srgbClr val="FFFFFF"/>
                </a:solidFill>
                <a:latin typeface="Söhne Mono"/>
              </a:rPr>
              <a:t>:</a:t>
            </a:r>
            <a:endParaRPr lang="en-US" sz="2400" dirty="0"/>
          </a:p>
        </p:txBody>
      </p:sp>
      <p:sp>
        <p:nvSpPr>
          <p:cNvPr id="8" name="Rectangle 7"/>
          <p:cNvSpPr/>
          <p:nvPr/>
        </p:nvSpPr>
        <p:spPr>
          <a:xfrm>
            <a:off x="1428471" y="3508654"/>
            <a:ext cx="6298134" cy="461665"/>
          </a:xfrm>
          <a:prstGeom prst="rect">
            <a:avLst/>
          </a:prstGeom>
        </p:spPr>
        <p:txBody>
          <a:bodyPr wrap="none">
            <a:spAutoFit/>
          </a:bodyPr>
          <a:lstStyle/>
          <a:p>
            <a:r>
              <a:rPr lang="en-US" sz="2400" dirty="0">
                <a:solidFill>
                  <a:srgbClr val="E9950C"/>
                </a:solidFill>
                <a:latin typeface="Söhne Mono"/>
              </a:rPr>
              <a:t>print</a:t>
            </a:r>
            <a:r>
              <a:rPr lang="en-US" sz="2400" dirty="0" smtClean="0">
                <a:solidFill>
                  <a:srgbClr val="FFFFFF"/>
                </a:solidFill>
                <a:latin typeface="Söhne Mono"/>
              </a:rPr>
              <a:t>(</a:t>
            </a:r>
            <a:r>
              <a:rPr lang="en-US" sz="2400" dirty="0" smtClean="0">
                <a:solidFill>
                  <a:srgbClr val="00FFFF"/>
                </a:solidFill>
                <a:latin typeface="Söhne Mono"/>
              </a:rPr>
              <a:t>"</a:t>
            </a:r>
            <a:r>
              <a:rPr lang="en-US" sz="2400" dirty="0">
                <a:solidFill>
                  <a:srgbClr val="00FFFF"/>
                </a:solidFill>
                <a:latin typeface="Söhne Mono"/>
              </a:rPr>
              <a:t>Data sent to the server successfully</a:t>
            </a:r>
            <a:r>
              <a:rPr lang="en-US" sz="2400" dirty="0" smtClean="0">
                <a:solidFill>
                  <a:srgbClr val="00FFFF"/>
                </a:solidFill>
                <a:latin typeface="Söhne Mono"/>
              </a:rPr>
              <a:t>.“</a:t>
            </a:r>
            <a:r>
              <a:rPr lang="en-US" sz="2400" dirty="0" smtClean="0">
                <a:solidFill>
                  <a:srgbClr val="FFFFFF"/>
                </a:solidFill>
                <a:latin typeface="Söhne Mono"/>
              </a:rPr>
              <a:t>)</a:t>
            </a:r>
            <a:endParaRPr lang="en-US" sz="2400" dirty="0"/>
          </a:p>
        </p:txBody>
      </p:sp>
      <p:sp>
        <p:nvSpPr>
          <p:cNvPr id="9" name="Rectangle 8"/>
          <p:cNvSpPr/>
          <p:nvPr/>
        </p:nvSpPr>
        <p:spPr>
          <a:xfrm>
            <a:off x="901369" y="3970319"/>
            <a:ext cx="835485" cy="461665"/>
          </a:xfrm>
          <a:prstGeom prst="rect">
            <a:avLst/>
          </a:prstGeom>
        </p:spPr>
        <p:txBody>
          <a:bodyPr wrap="none">
            <a:spAutoFit/>
          </a:bodyPr>
          <a:lstStyle/>
          <a:p>
            <a:r>
              <a:rPr lang="en-US" sz="2400" dirty="0">
                <a:solidFill>
                  <a:srgbClr val="00FF00"/>
                </a:solidFill>
                <a:latin typeface="Söhne Mono"/>
              </a:rPr>
              <a:t>else:</a:t>
            </a:r>
            <a:endParaRPr lang="en-US" sz="2400" dirty="0">
              <a:solidFill>
                <a:srgbClr val="00FF00"/>
              </a:solidFill>
            </a:endParaRPr>
          </a:p>
        </p:txBody>
      </p:sp>
      <p:sp>
        <p:nvSpPr>
          <p:cNvPr id="10" name="Rectangle 9"/>
          <p:cNvSpPr/>
          <p:nvPr/>
        </p:nvSpPr>
        <p:spPr>
          <a:xfrm>
            <a:off x="1428471" y="4431984"/>
            <a:ext cx="5859938" cy="461665"/>
          </a:xfrm>
          <a:prstGeom prst="rect">
            <a:avLst/>
          </a:prstGeom>
        </p:spPr>
        <p:txBody>
          <a:bodyPr wrap="none">
            <a:spAutoFit/>
          </a:bodyPr>
          <a:lstStyle/>
          <a:p>
            <a:r>
              <a:rPr lang="en-US" sz="2400" dirty="0">
                <a:solidFill>
                  <a:srgbClr val="E9950C"/>
                </a:solidFill>
                <a:latin typeface="Söhne Mono"/>
              </a:rPr>
              <a:t>print</a:t>
            </a:r>
            <a:r>
              <a:rPr lang="en-US" sz="2400" dirty="0" smtClean="0">
                <a:solidFill>
                  <a:srgbClr val="FFFFFF"/>
                </a:solidFill>
                <a:latin typeface="Söhne Mono"/>
              </a:rPr>
              <a:t>(</a:t>
            </a:r>
            <a:r>
              <a:rPr lang="en-US" sz="2400" dirty="0" smtClean="0">
                <a:solidFill>
                  <a:srgbClr val="00FFFF"/>
                </a:solidFill>
                <a:latin typeface="Söhne Mono"/>
              </a:rPr>
              <a:t>"</a:t>
            </a:r>
            <a:r>
              <a:rPr lang="en-US" sz="2400" dirty="0">
                <a:solidFill>
                  <a:srgbClr val="00FFFF"/>
                </a:solidFill>
                <a:latin typeface="Söhne Mono"/>
              </a:rPr>
              <a:t>Failed to send data to the server</a:t>
            </a:r>
            <a:r>
              <a:rPr lang="en-US" sz="2400" dirty="0" smtClean="0">
                <a:solidFill>
                  <a:srgbClr val="00FFFF"/>
                </a:solidFill>
                <a:latin typeface="Söhne Mono"/>
              </a:rPr>
              <a:t>.“</a:t>
            </a:r>
            <a:r>
              <a:rPr lang="en-US" sz="2400" dirty="0" smtClean="0">
                <a:solidFill>
                  <a:srgbClr val="FFFFFF"/>
                </a:solidFill>
                <a:latin typeface="Söhne Mono"/>
              </a:rPr>
              <a:t>)</a:t>
            </a:r>
            <a:endParaRPr lang="en-US" sz="2400" dirty="0"/>
          </a:p>
        </p:txBody>
      </p:sp>
      <p:sp>
        <p:nvSpPr>
          <p:cNvPr id="11" name="Rectangle 10"/>
          <p:cNvSpPr/>
          <p:nvPr/>
        </p:nvSpPr>
        <p:spPr>
          <a:xfrm>
            <a:off x="595837" y="4893649"/>
            <a:ext cx="5790368" cy="461665"/>
          </a:xfrm>
          <a:prstGeom prst="rect">
            <a:avLst/>
          </a:prstGeom>
        </p:spPr>
        <p:txBody>
          <a:bodyPr wrap="none">
            <a:spAutoFit/>
          </a:bodyPr>
          <a:lstStyle/>
          <a:p>
            <a:r>
              <a:rPr lang="en-US" sz="2400" dirty="0">
                <a:solidFill>
                  <a:srgbClr val="00FF00"/>
                </a:solidFill>
                <a:latin typeface="Söhne Mono"/>
              </a:rPr>
              <a:t>except</a:t>
            </a:r>
            <a:r>
              <a:rPr lang="en-US" dirty="0">
                <a:solidFill>
                  <a:srgbClr val="FFFFFF"/>
                </a:solidFill>
                <a:latin typeface="Söhne Mono"/>
              </a:rPr>
              <a:t> </a:t>
            </a:r>
            <a:r>
              <a:rPr lang="en-US" dirty="0" err="1">
                <a:solidFill>
                  <a:srgbClr val="FFFFFF"/>
                </a:solidFill>
                <a:latin typeface="Söhne Mono"/>
              </a:rPr>
              <a:t>requests.exceptions.RequestException</a:t>
            </a:r>
            <a:r>
              <a:rPr lang="en-US" dirty="0">
                <a:solidFill>
                  <a:srgbClr val="FFFFFF"/>
                </a:solidFill>
                <a:latin typeface="Söhne Mono"/>
              </a:rPr>
              <a:t> </a:t>
            </a:r>
            <a:r>
              <a:rPr lang="en-US" sz="2400" dirty="0">
                <a:solidFill>
                  <a:srgbClr val="00FF00"/>
                </a:solidFill>
                <a:latin typeface="Söhne Mono"/>
              </a:rPr>
              <a:t>as</a:t>
            </a:r>
            <a:r>
              <a:rPr lang="en-US" dirty="0">
                <a:solidFill>
                  <a:srgbClr val="FFFFFF"/>
                </a:solidFill>
                <a:latin typeface="Söhne Mono"/>
              </a:rPr>
              <a:t> e:</a:t>
            </a:r>
            <a:endParaRPr lang="en-US" dirty="0"/>
          </a:p>
        </p:txBody>
      </p:sp>
      <p:sp>
        <p:nvSpPr>
          <p:cNvPr id="12" name="Rectangle 11"/>
          <p:cNvSpPr/>
          <p:nvPr/>
        </p:nvSpPr>
        <p:spPr>
          <a:xfrm>
            <a:off x="1206902" y="5355314"/>
            <a:ext cx="2517036" cy="461665"/>
          </a:xfrm>
          <a:prstGeom prst="rect">
            <a:avLst/>
          </a:prstGeom>
        </p:spPr>
        <p:txBody>
          <a:bodyPr wrap="none">
            <a:spAutoFit/>
          </a:bodyPr>
          <a:lstStyle/>
          <a:p>
            <a:r>
              <a:rPr lang="en-US" sz="2400" dirty="0" smtClean="0">
                <a:solidFill>
                  <a:srgbClr val="E9950C"/>
                </a:solidFill>
                <a:latin typeface="Söhne Mono"/>
              </a:rPr>
              <a:t>print</a:t>
            </a:r>
            <a:r>
              <a:rPr lang="en-US" sz="2400" dirty="0" smtClean="0">
                <a:solidFill>
                  <a:srgbClr val="FFFFFF"/>
                </a:solidFill>
                <a:latin typeface="Söhne Mono"/>
              </a:rPr>
              <a:t>(</a:t>
            </a:r>
            <a:r>
              <a:rPr lang="en-US" sz="2400" dirty="0" err="1" smtClean="0">
                <a:solidFill>
                  <a:srgbClr val="00FFFF"/>
                </a:solidFill>
                <a:latin typeface="Söhne Mono"/>
              </a:rPr>
              <a:t>f"Error</a:t>
            </a:r>
            <a:r>
              <a:rPr lang="en-US" sz="2400" dirty="0">
                <a:solidFill>
                  <a:srgbClr val="00FFFF"/>
                </a:solidFill>
                <a:latin typeface="Söhne Mono"/>
              </a:rPr>
              <a:t>: {e</a:t>
            </a:r>
            <a:r>
              <a:rPr lang="en-US" sz="2400" dirty="0" smtClean="0">
                <a:solidFill>
                  <a:srgbClr val="00FFFF"/>
                </a:solidFill>
                <a:latin typeface="Söhne Mono"/>
              </a:rPr>
              <a:t>}“</a:t>
            </a:r>
            <a:r>
              <a:rPr lang="en-US" sz="2400" dirty="0" smtClean="0">
                <a:solidFill>
                  <a:srgbClr val="FFFFFF"/>
                </a:solidFill>
                <a:latin typeface="Söhne Mono"/>
              </a:rPr>
              <a:t>)</a:t>
            </a:r>
            <a:endParaRPr lang="en-US" sz="2400" dirty="0"/>
          </a:p>
        </p:txBody>
      </p:sp>
    </p:spTree>
    <p:extLst>
      <p:ext uri="{BB962C8B-B14F-4D97-AF65-F5344CB8AC3E}">
        <p14:creationId xmlns:p14="http://schemas.microsoft.com/office/powerpoint/2010/main" val="8106119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5412" y="698102"/>
            <a:ext cx="9058140" cy="1200329"/>
          </a:xfrm>
          <a:prstGeom prst="rect">
            <a:avLst/>
          </a:prstGeom>
        </p:spPr>
        <p:txBody>
          <a:bodyPr wrap="square">
            <a:spAutoFit/>
          </a:bodyPr>
          <a:lstStyle/>
          <a:p>
            <a:r>
              <a:rPr lang="pt-BR" sz="2400" dirty="0" smtClean="0">
                <a:solidFill>
                  <a:srgbClr val="FFFFFF"/>
                </a:solidFill>
                <a:latin typeface="Söhne Mono"/>
              </a:rPr>
              <a:t>audio_data </a:t>
            </a:r>
            <a:r>
              <a:rPr lang="pt-BR" sz="2400" dirty="0">
                <a:solidFill>
                  <a:srgbClr val="FFFFFF"/>
                </a:solidFill>
                <a:latin typeface="Söhne Mono"/>
              </a:rPr>
              <a:t>= record_audio()</a:t>
            </a:r>
          </a:p>
          <a:p>
            <a:r>
              <a:rPr lang="pt-BR" sz="2400" dirty="0">
                <a:solidFill>
                  <a:srgbClr val="FFFFFF"/>
                </a:solidFill>
                <a:latin typeface="Söhne Mono"/>
              </a:rPr>
              <a:t>noise_level = calculate_noise_level(audio_data)</a:t>
            </a:r>
          </a:p>
          <a:p>
            <a:r>
              <a:rPr lang="pt-BR" sz="2400" dirty="0" smtClean="0">
                <a:solidFill>
                  <a:srgbClr val="E9950C"/>
                </a:solidFill>
                <a:latin typeface="Söhne Mono"/>
              </a:rPr>
              <a:t>print</a:t>
            </a:r>
            <a:r>
              <a:rPr lang="pt-BR" sz="2400" dirty="0" smtClean="0">
                <a:solidFill>
                  <a:srgbClr val="FFFFFF"/>
                </a:solidFill>
                <a:latin typeface="Söhne Mono"/>
              </a:rPr>
              <a:t>(</a:t>
            </a:r>
            <a:r>
              <a:rPr lang="pt-BR" sz="2400" dirty="0" smtClean="0">
                <a:solidFill>
                  <a:srgbClr val="00FFFF"/>
                </a:solidFill>
                <a:latin typeface="Söhne Mono"/>
              </a:rPr>
              <a:t>f"Noise </a:t>
            </a:r>
            <a:r>
              <a:rPr lang="pt-BR" sz="2400" dirty="0">
                <a:solidFill>
                  <a:srgbClr val="00FFFF"/>
                </a:solidFill>
                <a:latin typeface="Söhne Mono"/>
              </a:rPr>
              <a:t>Level: {noise_level</a:t>
            </a:r>
            <a:r>
              <a:rPr lang="pt-BR" sz="2400" dirty="0" smtClean="0">
                <a:solidFill>
                  <a:srgbClr val="00FFFF"/>
                </a:solidFill>
                <a:latin typeface="Söhne Mono"/>
              </a:rPr>
              <a:t>}“</a:t>
            </a:r>
            <a:r>
              <a:rPr lang="pt-BR" sz="2400" dirty="0" smtClean="0">
                <a:solidFill>
                  <a:srgbClr val="FFFFFF"/>
                </a:solidFill>
                <a:latin typeface="Söhne Mono"/>
              </a:rPr>
              <a:t>)</a:t>
            </a:r>
            <a:endParaRPr lang="en-US" sz="2400" dirty="0"/>
          </a:p>
        </p:txBody>
      </p:sp>
      <p:sp>
        <p:nvSpPr>
          <p:cNvPr id="4" name="Rectangle 3"/>
          <p:cNvSpPr/>
          <p:nvPr/>
        </p:nvSpPr>
        <p:spPr>
          <a:xfrm>
            <a:off x="691171" y="2113096"/>
            <a:ext cx="3669594" cy="461665"/>
          </a:xfrm>
          <a:prstGeom prst="rect">
            <a:avLst/>
          </a:prstGeom>
        </p:spPr>
        <p:txBody>
          <a:bodyPr wrap="none">
            <a:spAutoFit/>
          </a:bodyPr>
          <a:lstStyle/>
          <a:p>
            <a:r>
              <a:rPr lang="en-US" sz="2400" dirty="0">
                <a:solidFill>
                  <a:srgbClr val="00FF00"/>
                </a:solidFill>
                <a:latin typeface="Söhne Mono"/>
              </a:rPr>
              <a:t>if</a:t>
            </a:r>
            <a:r>
              <a:rPr lang="en-US" sz="2400" dirty="0">
                <a:solidFill>
                  <a:srgbClr val="FFFFFF"/>
                </a:solidFill>
                <a:latin typeface="Söhne Mono"/>
              </a:rPr>
              <a:t> </a:t>
            </a:r>
            <a:r>
              <a:rPr lang="en-US" sz="2400" dirty="0" err="1">
                <a:solidFill>
                  <a:srgbClr val="FFFFFF"/>
                </a:solidFill>
                <a:latin typeface="Söhne Mono"/>
              </a:rPr>
              <a:t>noise_level</a:t>
            </a:r>
            <a:r>
              <a:rPr lang="en-US" sz="2400" dirty="0">
                <a:solidFill>
                  <a:srgbClr val="FFFFFF"/>
                </a:solidFill>
                <a:latin typeface="Söhne Mono"/>
              </a:rPr>
              <a:t> &gt; threshold:</a:t>
            </a:r>
            <a:endParaRPr lang="en-US" sz="2400" dirty="0"/>
          </a:p>
        </p:txBody>
      </p:sp>
      <p:sp>
        <p:nvSpPr>
          <p:cNvPr id="5" name="Rectangle 4"/>
          <p:cNvSpPr/>
          <p:nvPr/>
        </p:nvSpPr>
        <p:spPr>
          <a:xfrm>
            <a:off x="1096847" y="2745500"/>
            <a:ext cx="10365346" cy="830997"/>
          </a:xfrm>
          <a:prstGeom prst="rect">
            <a:avLst/>
          </a:prstGeom>
        </p:spPr>
        <p:txBody>
          <a:bodyPr wrap="square">
            <a:spAutoFit/>
          </a:bodyPr>
          <a:lstStyle/>
          <a:p>
            <a:r>
              <a:rPr lang="en-US" sz="2400" dirty="0">
                <a:solidFill>
                  <a:srgbClr val="E9950C"/>
                </a:solidFill>
                <a:latin typeface="Söhne Mono"/>
              </a:rPr>
              <a:t>print</a:t>
            </a:r>
            <a:r>
              <a:rPr lang="en-US" sz="2400" dirty="0" smtClean="0">
                <a:solidFill>
                  <a:srgbClr val="FFFFFF"/>
                </a:solidFill>
                <a:latin typeface="Söhne Mono"/>
              </a:rPr>
              <a:t>(</a:t>
            </a:r>
            <a:r>
              <a:rPr lang="en-US" sz="2400" dirty="0" smtClean="0">
                <a:solidFill>
                  <a:srgbClr val="00FFFF"/>
                </a:solidFill>
                <a:latin typeface="Söhne Mono"/>
              </a:rPr>
              <a:t>"</a:t>
            </a:r>
            <a:r>
              <a:rPr lang="en-US" sz="2400" dirty="0">
                <a:solidFill>
                  <a:srgbClr val="00FFFF"/>
                </a:solidFill>
                <a:latin typeface="Söhne Mono"/>
              </a:rPr>
              <a:t>Noise level exceeded threshold. Sending data to the server</a:t>
            </a:r>
            <a:r>
              <a:rPr lang="en-US" sz="2400" dirty="0" smtClean="0">
                <a:solidFill>
                  <a:srgbClr val="00FFFF"/>
                </a:solidFill>
                <a:latin typeface="Söhne Mono"/>
              </a:rPr>
              <a:t>...“</a:t>
            </a:r>
            <a:r>
              <a:rPr lang="en-US" sz="2400" dirty="0" smtClean="0">
                <a:solidFill>
                  <a:srgbClr val="FFFFFF"/>
                </a:solidFill>
                <a:latin typeface="Söhne Mono"/>
              </a:rPr>
              <a:t>) </a:t>
            </a:r>
            <a:r>
              <a:rPr lang="en-US" sz="2400" dirty="0" err="1">
                <a:solidFill>
                  <a:srgbClr val="FFFFFF"/>
                </a:solidFill>
                <a:latin typeface="Söhne Mono"/>
              </a:rPr>
              <a:t>send_data_to_server</a:t>
            </a:r>
            <a:r>
              <a:rPr lang="en-US" sz="2400" dirty="0">
                <a:solidFill>
                  <a:srgbClr val="FFFFFF"/>
                </a:solidFill>
                <a:latin typeface="Söhne Mono"/>
              </a:rPr>
              <a:t>(</a:t>
            </a:r>
            <a:r>
              <a:rPr lang="en-US" sz="2400" dirty="0" err="1">
                <a:solidFill>
                  <a:srgbClr val="FFFFFF"/>
                </a:solidFill>
                <a:latin typeface="Söhne Mono"/>
              </a:rPr>
              <a:t>noise_level</a:t>
            </a:r>
            <a:r>
              <a:rPr lang="en-US" sz="2400" dirty="0">
                <a:solidFill>
                  <a:srgbClr val="FFFFFF"/>
                </a:solidFill>
                <a:latin typeface="Söhne Mono"/>
              </a:rPr>
              <a:t>)</a:t>
            </a:r>
            <a:endParaRPr lang="en-US" sz="2400" dirty="0"/>
          </a:p>
        </p:txBody>
      </p:sp>
      <p:sp>
        <p:nvSpPr>
          <p:cNvPr id="6" name="Rectangle 5"/>
          <p:cNvSpPr/>
          <p:nvPr/>
        </p:nvSpPr>
        <p:spPr>
          <a:xfrm>
            <a:off x="704049" y="3747236"/>
            <a:ext cx="6844181" cy="461665"/>
          </a:xfrm>
          <a:prstGeom prst="rect">
            <a:avLst/>
          </a:prstGeom>
        </p:spPr>
        <p:txBody>
          <a:bodyPr wrap="none">
            <a:spAutoFit/>
          </a:bodyPr>
          <a:lstStyle/>
          <a:p>
            <a:r>
              <a:rPr lang="en-US" sz="2400" dirty="0" err="1">
                <a:solidFill>
                  <a:srgbClr val="FFFFFF"/>
                </a:solidFill>
                <a:latin typeface="Söhne Mono"/>
              </a:rPr>
              <a:t>time.sleep</a:t>
            </a:r>
            <a:r>
              <a:rPr lang="en-US" sz="2400" dirty="0">
                <a:solidFill>
                  <a:srgbClr val="FFFFFF"/>
                </a:solidFill>
                <a:latin typeface="Söhne Mono"/>
              </a:rPr>
              <a:t>(</a:t>
            </a:r>
            <a:r>
              <a:rPr lang="en-US" sz="2400" dirty="0">
                <a:solidFill>
                  <a:srgbClr val="DF3079"/>
                </a:solidFill>
                <a:latin typeface="Söhne Mono"/>
              </a:rPr>
              <a:t>30</a:t>
            </a:r>
            <a:r>
              <a:rPr lang="en-US" sz="2400" dirty="0">
                <a:solidFill>
                  <a:srgbClr val="FFFFFF"/>
                </a:solidFill>
                <a:latin typeface="Söhne Mono"/>
              </a:rPr>
              <a:t>) </a:t>
            </a:r>
            <a:r>
              <a:rPr lang="en-US" sz="2400" dirty="0">
                <a:latin typeface="Söhne Mono"/>
              </a:rPr>
              <a:t># Adjust the sleep time as needed</a:t>
            </a:r>
            <a:endParaRPr lang="en-US" sz="2400" dirty="0"/>
          </a:p>
        </p:txBody>
      </p:sp>
      <p:sp>
        <p:nvSpPr>
          <p:cNvPr id="8" name="Rectangle 7"/>
          <p:cNvSpPr/>
          <p:nvPr/>
        </p:nvSpPr>
        <p:spPr>
          <a:xfrm>
            <a:off x="137375" y="249316"/>
            <a:ext cx="1674497" cy="461665"/>
          </a:xfrm>
          <a:prstGeom prst="rect">
            <a:avLst/>
          </a:prstGeom>
        </p:spPr>
        <p:txBody>
          <a:bodyPr wrap="none">
            <a:spAutoFit/>
          </a:bodyPr>
          <a:lstStyle/>
          <a:p>
            <a:r>
              <a:rPr lang="en-US" sz="2400" dirty="0">
                <a:solidFill>
                  <a:srgbClr val="00FF00"/>
                </a:solidFill>
                <a:latin typeface="Söhne Mono"/>
              </a:rPr>
              <a:t>while True:</a:t>
            </a:r>
            <a:endParaRPr lang="en-US" sz="2400" dirty="0">
              <a:solidFill>
                <a:srgbClr val="00FF00"/>
              </a:solidFill>
            </a:endParaRPr>
          </a:p>
        </p:txBody>
      </p:sp>
    </p:spTree>
    <p:extLst>
      <p:ext uri="{BB962C8B-B14F-4D97-AF65-F5344CB8AC3E}">
        <p14:creationId xmlns:p14="http://schemas.microsoft.com/office/powerpoint/2010/main" val="7220127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12879" y="-12879"/>
            <a:ext cx="2643672"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RESULT</a:t>
            </a:r>
          </a:p>
        </p:txBody>
      </p:sp>
      <p:sp>
        <p:nvSpPr>
          <p:cNvPr id="23" name="Rectangle 22"/>
          <p:cNvSpPr/>
          <p:nvPr/>
        </p:nvSpPr>
        <p:spPr>
          <a:xfrm>
            <a:off x="407831" y="730147"/>
            <a:ext cx="11784169" cy="1138773"/>
          </a:xfrm>
          <a:prstGeom prst="rect">
            <a:avLst/>
          </a:prstGeom>
        </p:spPr>
        <p:txBody>
          <a:bodyPr wrap="square">
            <a:spAutoFit/>
          </a:bodyPr>
          <a:lstStyle/>
          <a:p>
            <a:pPr marL="450850" marR="0" indent="-457200" algn="just">
              <a:lnSpc>
                <a:spcPct val="100000"/>
              </a:lnSpc>
              <a:spcBef>
                <a:spcPts val="0"/>
              </a:spcBef>
              <a:spcAft>
                <a:spcPts val="1900"/>
              </a:spcAft>
              <a:buFont typeface="Wingdings" panose="05000000000000000000" pitchFamily="2" charset="2"/>
              <a:buChar char="v"/>
            </a:pPr>
            <a:r>
              <a:rPr lang="en-US" sz="3400" dirty="0">
                <a:latin typeface="Times New Roman" panose="02020603050405020304" pitchFamily="18" charset="0"/>
                <a:ea typeface="Cambria" panose="02040503050406030204" pitchFamily="18" charset="0"/>
                <a:cs typeface="Times New Roman" panose="02020603050405020304" pitchFamily="18" charset="0"/>
              </a:rPr>
              <a:t>The detected air pollution, </a:t>
            </a:r>
            <a:r>
              <a:rPr lang="en-US" sz="3400" dirty="0" smtClean="0">
                <a:latin typeface="Times New Roman" panose="02020603050405020304" pitchFamily="18" charset="0"/>
                <a:ea typeface="Cambria" panose="02040503050406030204" pitchFamily="18" charset="0"/>
                <a:cs typeface="Times New Roman" panose="02020603050405020304" pitchFamily="18" charset="0"/>
              </a:rPr>
              <a:t>sound pollution </a:t>
            </a:r>
            <a:r>
              <a:rPr lang="en-US" sz="3400" dirty="0">
                <a:latin typeface="Times New Roman" panose="02020603050405020304" pitchFamily="18" charset="0"/>
                <a:ea typeface="Cambria" panose="02040503050406030204" pitchFamily="18" charset="0"/>
                <a:cs typeface="Times New Roman" panose="02020603050405020304" pitchFamily="18" charset="0"/>
              </a:rPr>
              <a:t>and temperature are displayed below in Fig.8  </a:t>
            </a:r>
            <a:endParaRPr lang="en-US" sz="3400" dirty="0">
              <a:effectLst/>
              <a:latin typeface="Times New Roman" panose="02020603050405020304" pitchFamily="18" charset="0"/>
              <a:ea typeface="Cambria" panose="02040503050406030204" pitchFamily="18" charset="0"/>
              <a:cs typeface="Times New Roman" panose="02020603050405020304" pitchFamily="18" charset="0"/>
            </a:endParaRPr>
          </a:p>
        </p:txBody>
      </p:sp>
      <p:grpSp>
        <p:nvGrpSpPr>
          <p:cNvPr id="24" name="Group 23"/>
          <p:cNvGrpSpPr/>
          <p:nvPr/>
        </p:nvGrpSpPr>
        <p:grpSpPr>
          <a:xfrm>
            <a:off x="5558339" y="1299533"/>
            <a:ext cx="3559904" cy="5709495"/>
            <a:chOff x="0" y="0"/>
            <a:chExt cx="3342250" cy="7183068"/>
          </a:xfrm>
        </p:grpSpPr>
        <p:pic>
          <p:nvPicPr>
            <p:cNvPr id="25" name="Picture 24"/>
            <p:cNvPicPr/>
            <p:nvPr/>
          </p:nvPicPr>
          <p:blipFill>
            <a:blip r:embed="rId2"/>
            <a:stretch>
              <a:fillRect/>
            </a:stretch>
          </p:blipFill>
          <p:spPr>
            <a:xfrm>
              <a:off x="0" y="0"/>
              <a:ext cx="3342250" cy="2261235"/>
            </a:xfrm>
            <a:prstGeom prst="rect">
              <a:avLst/>
            </a:prstGeom>
          </p:spPr>
        </p:pic>
        <p:pic>
          <p:nvPicPr>
            <p:cNvPr id="26" name="Picture 25"/>
            <p:cNvPicPr/>
            <p:nvPr/>
          </p:nvPicPr>
          <p:blipFill>
            <a:blip r:embed="rId3"/>
            <a:stretch>
              <a:fillRect/>
            </a:stretch>
          </p:blipFill>
          <p:spPr>
            <a:xfrm>
              <a:off x="99" y="2388235"/>
              <a:ext cx="3330086" cy="2299335"/>
            </a:xfrm>
            <a:prstGeom prst="rect">
              <a:avLst/>
            </a:prstGeom>
          </p:spPr>
        </p:pic>
        <p:pic>
          <p:nvPicPr>
            <p:cNvPr id="27" name="Picture 26"/>
            <p:cNvPicPr/>
            <p:nvPr/>
          </p:nvPicPr>
          <p:blipFill>
            <a:blip r:embed="rId4"/>
            <a:stretch>
              <a:fillRect/>
            </a:stretch>
          </p:blipFill>
          <p:spPr>
            <a:xfrm>
              <a:off x="3002" y="4813934"/>
              <a:ext cx="3293528" cy="2032000"/>
            </a:xfrm>
            <a:prstGeom prst="rect">
              <a:avLst/>
            </a:prstGeom>
          </p:spPr>
        </p:pic>
        <p:sp>
          <p:nvSpPr>
            <p:cNvPr id="28" name="Rectangle 27"/>
            <p:cNvSpPr/>
            <p:nvPr/>
          </p:nvSpPr>
          <p:spPr>
            <a:xfrm>
              <a:off x="3297926" y="6737511"/>
              <a:ext cx="41024" cy="186476"/>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100" b="1">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29" name="Rectangle 28"/>
            <p:cNvSpPr/>
            <p:nvPr/>
          </p:nvSpPr>
          <p:spPr>
            <a:xfrm>
              <a:off x="124324" y="6996591"/>
              <a:ext cx="110394" cy="186477"/>
            </a:xfrm>
            <a:prstGeom prst="rect">
              <a:avLst/>
            </a:prstGeom>
            <a:ln>
              <a:noFill/>
            </a:ln>
          </p:spPr>
          <p:txBody>
            <a:bodyPr lIns="0" tIns="0" rIns="0" bIns="0" rtlCol="0">
              <a:noAutofit/>
            </a:bodyPr>
            <a:lstStyle/>
            <a:p>
              <a:pPr marL="0" marR="0" indent="0" algn="l">
                <a:lnSpc>
                  <a:spcPct val="115000"/>
                </a:lnSpc>
                <a:spcBef>
                  <a:spcPts val="0"/>
                </a:spcBef>
                <a:spcAft>
                  <a:spcPts val="0"/>
                </a:spcAft>
              </a:pPr>
              <a:endParaRPr lang="en-US" sz="1000" dirty="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p:txBody>
        </p:sp>
        <p:sp>
          <p:nvSpPr>
            <p:cNvPr id="31" name="Rectangle 30"/>
            <p:cNvSpPr/>
            <p:nvPr/>
          </p:nvSpPr>
          <p:spPr>
            <a:xfrm>
              <a:off x="1105780" y="6996591"/>
              <a:ext cx="41025" cy="186477"/>
            </a:xfrm>
            <a:prstGeom prst="rect">
              <a:avLst/>
            </a:prstGeom>
            <a:ln>
              <a:noFill/>
            </a:ln>
          </p:spPr>
          <p:txBody>
            <a:bodyPr lIns="0" tIns="0" rIns="0" bIns="0" rtlCol="0">
              <a:noAutofit/>
            </a:bodyPr>
            <a:lstStyle/>
            <a:p>
              <a:pPr marL="0" marR="0" indent="0" algn="l">
                <a:lnSpc>
                  <a:spcPct val="115000"/>
                </a:lnSpc>
                <a:spcBef>
                  <a:spcPts val="0"/>
                </a:spcBef>
                <a:spcAft>
                  <a:spcPts val="0"/>
                </a:spcAft>
              </a:pPr>
              <a:r>
                <a:rPr lang="en-US" sz="1100" b="1">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US" sz="1000">
                <a:solidFill>
                  <a:srgbClr val="000000"/>
                </a:solidFill>
                <a:effectLst/>
                <a:latin typeface="Cambria" panose="02040503050406030204" pitchFamily="18" charset="0"/>
                <a:ea typeface="Cambria" panose="02040503050406030204" pitchFamily="18" charset="0"/>
                <a:cs typeface="Cambria" panose="02040503050406030204" pitchFamily="18" charset="0"/>
              </a:endParaRPr>
            </a:p>
          </p:txBody>
        </p:sp>
      </p:grpSp>
    </p:spTree>
    <p:extLst>
      <p:ext uri="{BB962C8B-B14F-4D97-AF65-F5344CB8AC3E}">
        <p14:creationId xmlns:p14="http://schemas.microsoft.com/office/powerpoint/2010/main" val="1380863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089581" cy="923330"/>
          </a:xfrm>
          <a:prstGeom prst="rect">
            <a:avLst/>
          </a:prstGeom>
        </p:spPr>
        <p:txBody>
          <a:bodyPr wrap="none">
            <a:spAutoFit/>
          </a:bodyPr>
          <a:lstStyle/>
          <a:p>
            <a:r>
              <a:rPr lang="en-US" sz="5400" b="1" dirty="0">
                <a:solidFill>
                  <a:schemeClr val="bg1"/>
                </a:solidFill>
                <a:latin typeface="Algerian" panose="04020705040A02060702" pitchFamily="82" charset="0"/>
                <a:cs typeface="Times New Roman" panose="02020603050405020304" pitchFamily="18" charset="0"/>
              </a:rPr>
              <a:t>CONCLUSION</a:t>
            </a:r>
          </a:p>
        </p:txBody>
      </p:sp>
      <p:sp>
        <p:nvSpPr>
          <p:cNvPr id="3" name="Rectangle 2"/>
          <p:cNvSpPr/>
          <p:nvPr/>
        </p:nvSpPr>
        <p:spPr>
          <a:xfrm>
            <a:off x="485104" y="743024"/>
            <a:ext cx="11706896" cy="6001643"/>
          </a:xfrm>
          <a:prstGeom prst="rect">
            <a:avLst/>
          </a:prstGeom>
        </p:spPr>
        <p:txBody>
          <a:bodyPr wrap="square">
            <a:spAutoFit/>
          </a:bodyPr>
          <a:lstStyle/>
          <a:p>
            <a:pPr marL="457200" indent="-45720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The smart because of monitor setting and a cheap, low price embedded system is given with fully completely different models throughout this paper. at intervals the projected style functions of assorted modules were </a:t>
            </a:r>
            <a:r>
              <a:rPr lang="en-US" sz="3200" dirty="0" smtClean="0">
                <a:latin typeface="Times New Roman" panose="02020603050405020304" pitchFamily="18" charset="0"/>
                <a:cs typeface="Times New Roman" panose="02020603050405020304" pitchFamily="18" charset="0"/>
              </a:rPr>
              <a:t>mentioned.</a:t>
            </a:r>
          </a:p>
          <a:p>
            <a:pPr marL="457200" indent="-4572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noise and pollution observation system with internet of Things (</a:t>
            </a:r>
            <a:r>
              <a:rPr lang="en-US" sz="3200" dirty="0" smtClean="0">
                <a:latin typeface="Times New Roman" panose="02020603050405020304" pitchFamily="18" charset="0"/>
                <a:cs typeface="Times New Roman" panose="02020603050405020304" pitchFamily="18" charset="0"/>
              </a:rPr>
              <a:t>IOT)concept </a:t>
            </a:r>
            <a:r>
              <a:rPr lang="en-US" sz="3200" dirty="0">
                <a:latin typeface="Times New Roman" panose="02020603050405020304" pitchFamily="18" charset="0"/>
                <a:cs typeface="Times New Roman" panose="02020603050405020304" pitchFamily="18" charset="0"/>
              </a:rPr>
              <a:t>through an experiment tested for observation 2 parameters. It additionally sent the device parameters values to the </a:t>
            </a:r>
            <a:r>
              <a:rPr lang="en-US" sz="3200" dirty="0" smtClean="0">
                <a:latin typeface="Times New Roman" panose="02020603050405020304" pitchFamily="18" charset="0"/>
                <a:cs typeface="Times New Roman" panose="02020603050405020304" pitchFamily="18" charset="0"/>
              </a:rPr>
              <a:t>cloud.</a:t>
            </a:r>
          </a:p>
          <a:p>
            <a:pPr marL="457200" indent="-4572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This </a:t>
            </a:r>
            <a:r>
              <a:rPr lang="en-US" sz="3200" dirty="0">
                <a:latin typeface="Times New Roman" panose="02020603050405020304" pitchFamily="18" charset="0"/>
                <a:cs typeface="Times New Roman" panose="02020603050405020304" pitchFamily="18" charset="0"/>
              </a:rPr>
              <a:t>information are going </a:t>
            </a:r>
            <a:r>
              <a:rPr lang="en-US" sz="3200" dirty="0" smtClean="0">
                <a:latin typeface="Times New Roman" panose="02020603050405020304" pitchFamily="18" charset="0"/>
                <a:cs typeface="Times New Roman" panose="02020603050405020304" pitchFamily="18" charset="0"/>
              </a:rPr>
              <a:t>to be </a:t>
            </a:r>
            <a:r>
              <a:rPr lang="en-US" sz="3200" dirty="0">
                <a:latin typeface="Times New Roman" panose="02020603050405020304" pitchFamily="18" charset="0"/>
                <a:cs typeface="Times New Roman" panose="02020603050405020304" pitchFamily="18" charset="0"/>
              </a:rPr>
              <a:t>useful for future analysis and it will be simply shared to alternative finish </a:t>
            </a:r>
            <a:r>
              <a:rPr lang="en-US" sz="3200" dirty="0" smtClean="0">
                <a:latin typeface="Times New Roman" panose="02020603050405020304" pitchFamily="18" charset="0"/>
                <a:cs typeface="Times New Roman" panose="02020603050405020304" pitchFamily="18" charset="0"/>
              </a:rPr>
              <a:t>users.</a:t>
            </a:r>
          </a:p>
          <a:p>
            <a:pPr marL="457200" indent="-457200">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This </a:t>
            </a:r>
            <a:r>
              <a:rPr lang="en-US" sz="3200" dirty="0">
                <a:latin typeface="Times New Roman" panose="02020603050405020304" pitchFamily="18" charset="0"/>
                <a:cs typeface="Times New Roman" panose="02020603050405020304" pitchFamily="18" charset="0"/>
              </a:rPr>
              <a:t>model will be additional swollen to watch the developing cities and industrial zones for pollution observation. </a:t>
            </a:r>
          </a:p>
        </p:txBody>
      </p:sp>
    </p:spTree>
    <p:extLst>
      <p:ext uri="{BB962C8B-B14F-4D97-AF65-F5344CB8AC3E}">
        <p14:creationId xmlns:p14="http://schemas.microsoft.com/office/powerpoint/2010/main" val="7792860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89420" y="1634472"/>
            <a:ext cx="5318973" cy="3046988"/>
          </a:xfrm>
          <a:prstGeom prst="rect">
            <a:avLst/>
          </a:prstGeom>
        </p:spPr>
        <p:txBody>
          <a:bodyPr wrap="square">
            <a:spAutoFit/>
          </a:bodyPr>
          <a:lstStyle/>
          <a:p>
            <a:r>
              <a:rPr lang="en-US" sz="9600" dirty="0">
                <a:latin typeface="Times New Roman" panose="02020603050405020304" pitchFamily="18" charset="0"/>
                <a:ea typeface="Calibri" panose="020F0502020204030204" pitchFamily="34" charset="0"/>
                <a:cs typeface="Latha" panose="020B0604020202020204" pitchFamily="34" charset="0"/>
              </a:rPr>
              <a:t> </a:t>
            </a:r>
            <a:r>
              <a:rPr lang="en-US" sz="9600" b="1" u="sng" dirty="0">
                <a:latin typeface="Algerian" panose="04020705040A02060702" pitchFamily="82" charset="0"/>
                <a:ea typeface="Calibri" panose="020F0502020204030204" pitchFamily="34" charset="0"/>
                <a:cs typeface="Latha" panose="020B0604020202020204" pitchFamily="34" charset="0"/>
              </a:rPr>
              <a:t>THANK </a:t>
            </a:r>
            <a:endParaRPr lang="en-US" sz="9600" b="1" u="sng" dirty="0" smtClean="0">
              <a:latin typeface="Algerian" panose="04020705040A02060702" pitchFamily="82" charset="0"/>
            </a:endParaRPr>
          </a:p>
          <a:p>
            <a:r>
              <a:rPr lang="en-US" sz="9600" b="1" dirty="0" smtClean="0">
                <a:latin typeface="Algerian" panose="04020705040A02060702" pitchFamily="82" charset="0"/>
                <a:ea typeface="Calibri" panose="020F0502020204030204" pitchFamily="34" charset="0"/>
                <a:cs typeface="Latha" panose="020B0604020202020204" pitchFamily="34" charset="0"/>
              </a:rPr>
              <a:t>    </a:t>
            </a:r>
            <a:r>
              <a:rPr lang="en-US" sz="9600" b="1" u="sng" dirty="0" smtClean="0">
                <a:latin typeface="Algerian" panose="04020705040A02060702" pitchFamily="82" charset="0"/>
                <a:ea typeface="Calibri" panose="020F0502020204030204" pitchFamily="34" charset="0"/>
                <a:cs typeface="Latha" panose="020B0604020202020204" pitchFamily="34" charset="0"/>
              </a:rPr>
              <a:t>YOU</a:t>
            </a:r>
          </a:p>
        </p:txBody>
      </p:sp>
    </p:spTree>
    <p:extLst>
      <p:ext uri="{BB962C8B-B14F-4D97-AF65-F5344CB8AC3E}">
        <p14:creationId xmlns:p14="http://schemas.microsoft.com/office/powerpoint/2010/main" val="1431691489"/>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310</TotalTime>
  <Words>1526</Words>
  <Application>Microsoft Office PowerPoint</Application>
  <PresentationFormat>Widescreen</PresentationFormat>
  <Paragraphs>120</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Algerian</vt:lpstr>
      <vt:lpstr>Calibri</vt:lpstr>
      <vt:lpstr>Cambria</vt:lpstr>
      <vt:lpstr>Century Gothic</vt:lpstr>
      <vt:lpstr>Latha</vt:lpstr>
      <vt:lpstr>Söhne Mono</vt:lpstr>
      <vt:lpstr>Times New Roman</vt:lpstr>
      <vt:lpstr>Wingdings</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27</cp:revision>
  <dcterms:created xsi:type="dcterms:W3CDTF">2023-10-17T06:24:46Z</dcterms:created>
  <dcterms:modified xsi:type="dcterms:W3CDTF">2023-10-18T09:34:30Z</dcterms:modified>
</cp:coreProperties>
</file>